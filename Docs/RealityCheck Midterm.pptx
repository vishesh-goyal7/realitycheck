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bre Baskerville" charset="1" panose="02000000000000000000"/>
      <p:regular r:id="rId19"/>
    </p:embeddedFont>
    <p:embeddedFont>
      <p:font typeface="DM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080747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RealityCheck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4089644"/>
            <a:ext cx="9445523" cy="143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LLM Hallucination Detection &amp; Correction Framework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5856084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Progress Presentation for Major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6628657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Vishesh Goyal (225805242)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41384"/>
            <a:ext cx="7900092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Problem Context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4018207"/>
            <a:ext cx="5254971" cy="3703587"/>
            <a:chOff x="0" y="0"/>
            <a:chExt cx="7006628" cy="49381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4925314"/>
            </a:xfrm>
            <a:custGeom>
              <a:avLst/>
              <a:gdLst/>
              <a:ahLst/>
              <a:cxnLst/>
              <a:rect r="r" b="b" t="t" l="l"/>
              <a:pathLst>
                <a:path h="492531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4316016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4549826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098" t="0" r="-609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5431041"/>
            <a:ext cx="363646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LLM Hallucinations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5967860"/>
            <a:ext cx="465936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Large language models generate confident but factually incorrect outputs that can mislead users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443" y="4018207"/>
            <a:ext cx="5254971" cy="3703587"/>
            <a:chOff x="0" y="0"/>
            <a:chExt cx="7006628" cy="49381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993890" cy="4925314"/>
            </a:xfrm>
            <a:custGeom>
              <a:avLst/>
              <a:gdLst/>
              <a:ahLst/>
              <a:cxnLst/>
              <a:rect r="r" b="b" t="t" l="l"/>
              <a:pathLst>
                <a:path h="492531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14242" y="4316016"/>
            <a:ext cx="850554" cy="850554"/>
            <a:chOff x="0" y="0"/>
            <a:chExt cx="1134072" cy="1134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048205" y="4549826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195" r="0" b="-1219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14242" y="5431041"/>
            <a:ext cx="394245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High-Stakes Domains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4242" y="5967860"/>
            <a:ext cx="465936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Critical applications in healthcare, finance, and research demand absolute factual accuracy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5401" y="4018207"/>
            <a:ext cx="5254971" cy="3703587"/>
            <a:chOff x="0" y="0"/>
            <a:chExt cx="7006628" cy="49381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993890" cy="4925314"/>
            </a:xfrm>
            <a:custGeom>
              <a:avLst/>
              <a:gdLst/>
              <a:ahLst/>
              <a:cxnLst/>
              <a:rect r="r" b="b" t="t" l="l"/>
              <a:pathLst>
                <a:path h="492531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3209" y="4316016"/>
            <a:ext cx="850554" cy="850554"/>
            <a:chOff x="0" y="0"/>
            <a:chExt cx="1134072" cy="1134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77172" y="4549826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43209" y="543104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Automation Goal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09" y="5967860"/>
            <a:ext cx="465936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Detect and correct hallucinated content automatically without human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848870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453090"/>
            <a:ext cx="594836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Hybrid Framework Components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103314"/>
            <a:ext cx="10355161" cy="220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Multi-stage hallucination detection with confidence scoring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Cross-referenced fact verification against trusted sources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Automated response correction maintaining coherence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Post-processing reliability layer for any LLM output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844490" y="4188619"/>
            <a:ext cx="5664841" cy="3220936"/>
            <a:chOff x="0" y="0"/>
            <a:chExt cx="7553122" cy="42945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53071" cy="4294505"/>
            </a:xfrm>
            <a:custGeom>
              <a:avLst/>
              <a:gdLst/>
              <a:ahLst/>
              <a:cxnLst/>
              <a:rect r="r" b="b" t="t" l="l"/>
              <a:pathLst>
                <a:path h="4294505" w="7553071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7280910" y="0"/>
                  </a:lnTo>
                  <a:cubicBezTo>
                    <a:pt x="7431278" y="0"/>
                    <a:pt x="7553071" y="121920"/>
                    <a:pt x="7553071" y="272161"/>
                  </a:cubicBezTo>
                  <a:lnTo>
                    <a:pt x="7553071" y="4022344"/>
                  </a:lnTo>
                  <a:cubicBezTo>
                    <a:pt x="7553071" y="4172712"/>
                    <a:pt x="7431151" y="4294505"/>
                    <a:pt x="7280910" y="4294505"/>
                  </a:cubicBezTo>
                  <a:lnTo>
                    <a:pt x="272161" y="4294505"/>
                  </a:lnTo>
                  <a:cubicBezTo>
                    <a:pt x="121920" y="4294632"/>
                    <a:pt x="0" y="4172712"/>
                    <a:pt x="0" y="4022344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128002" y="445309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 Outcome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28002" y="5103314"/>
            <a:ext cx="5097809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Reliable, verifiable responses that maintain the original intent while correcting factual errors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5198" y="684314"/>
            <a:ext cx="9965236" cy="8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System Architecture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3216" y="1964084"/>
            <a:ext cx="16361569" cy="7055491"/>
            <a:chOff x="0" y="0"/>
            <a:chExt cx="21815425" cy="940732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815425" cy="9407271"/>
            </a:xfrm>
            <a:custGeom>
              <a:avLst/>
              <a:gdLst/>
              <a:ahLst/>
              <a:cxnLst/>
              <a:rect r="r" b="b" t="t" l="l"/>
              <a:pathLst>
                <a:path h="9407271" w="21815425">
                  <a:moveTo>
                    <a:pt x="0" y="0"/>
                  </a:moveTo>
                  <a:lnTo>
                    <a:pt x="21815425" y="0"/>
                  </a:lnTo>
                  <a:lnTo>
                    <a:pt x="21815425" y="9407271"/>
                  </a:lnTo>
                  <a:lnTo>
                    <a:pt x="0" y="9407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" r="0" b="-1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064172" y="7653023"/>
            <a:ext cx="3711892" cy="49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Retrieve Evidence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4172" y="6019781"/>
            <a:ext cx="3711892" cy="49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Claim Extract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64172" y="4403046"/>
            <a:ext cx="3711892" cy="49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LLM Answer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64172" y="2769813"/>
            <a:ext cx="3711892" cy="49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Question 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5198" y="9212466"/>
            <a:ext cx="16497595" cy="45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Modular pipeline design enables independent component optimization and scalability across multiple LLMs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71663"/>
            <a:ext cx="15190737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1 – System Design &amp; Pipeline Setup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88057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COMPLETED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682003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4211536"/>
            <a:ext cx="8009934" cy="38100"/>
            <a:chOff x="0" y="0"/>
            <a:chExt cx="10679913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441037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Selection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947199"/>
            <a:ext cx="800993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TruthfulQA benchmark locked as evaluation standard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85684" y="3682003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5684" y="4211536"/>
            <a:ext cx="8010077" cy="38100"/>
            <a:chOff x="0" y="0"/>
            <a:chExt cx="10680103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85684" y="441037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LLM Integration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85684" y="4947199"/>
            <a:ext cx="801007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Multi-model support for GPT and Mistral architectures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5906395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6435928"/>
            <a:ext cx="8009934" cy="38100"/>
            <a:chOff x="0" y="0"/>
            <a:chExt cx="10679913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2238" y="6634753"/>
            <a:ext cx="425946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Retrieval Infrastructure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7171582"/>
            <a:ext cx="800993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Wikipedia-based evidence source with query optimization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5684" y="5906395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85684" y="6435928"/>
            <a:ext cx="8010077" cy="38100"/>
            <a:chOff x="0" y="0"/>
            <a:chExt cx="10680103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285684" y="6634753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Decision Engine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4" y="7171582"/>
            <a:ext cx="801007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Three-state logic: Supported / Contradicted / Insufficient evidence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21466"/>
            <a:ext cx="1059254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1 – Core Modules Built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3003052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999" t="0" r="-400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238" y="404708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Claim Extraction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583906"/>
            <a:ext cx="79745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Sentence boundary detection and claim-worthiness filtering to identify testable assertions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1108" y="3003052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1108" y="404708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Retrieval Module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8" y="4583906"/>
            <a:ext cx="7974654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Wikipedia querying with semantic chunking and similarity-based ranking for relevant evidence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6153445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332" t="0" r="-21334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238" y="719748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Detection Logic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734300"/>
            <a:ext cx="79745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Evidence relevance scoring with support versus contradiction analysis for hallucination flags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1108" y="6153445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999" t="0" r="-600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21108" y="719748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Correction Module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7734300"/>
            <a:ext cx="7974654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LLM-based response rewriting using verified evidence while preserving original context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7887" y="-461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979284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2 – Experiment Infrastructure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874169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COMPLETED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73188" y="3742287"/>
            <a:ext cx="4619034" cy="3108874"/>
            <a:chOff x="0" y="0"/>
            <a:chExt cx="6158713" cy="41451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6107811" cy="4094353"/>
            </a:xfrm>
            <a:custGeom>
              <a:avLst/>
              <a:gdLst/>
              <a:ahLst/>
              <a:cxnLst/>
              <a:rect r="r" b="b" t="t" l="l"/>
              <a:pathLst>
                <a:path h="4094353" w="6107811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5948426" y="0"/>
                  </a:lnTo>
                  <a:cubicBezTo>
                    <a:pt x="6036437" y="0"/>
                    <a:pt x="6107811" y="71120"/>
                    <a:pt x="6107811" y="158750"/>
                  </a:cubicBezTo>
                  <a:lnTo>
                    <a:pt x="6107811" y="3935603"/>
                  </a:lnTo>
                  <a:cubicBezTo>
                    <a:pt x="6107811" y="4023233"/>
                    <a:pt x="6036437" y="4094353"/>
                    <a:pt x="5948426" y="4094353"/>
                  </a:cubicBezTo>
                  <a:lnTo>
                    <a:pt x="159385" y="4094353"/>
                  </a:lnTo>
                  <a:cubicBezTo>
                    <a:pt x="71374" y="4094353"/>
                    <a:pt x="0" y="4023233"/>
                    <a:pt x="0" y="3935603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58611" cy="4145153"/>
            </a:xfrm>
            <a:custGeom>
              <a:avLst/>
              <a:gdLst/>
              <a:ahLst/>
              <a:cxnLst/>
              <a:rect r="r" b="b" t="t" l="l"/>
              <a:pathLst>
                <a:path h="4145153" w="6158611">
                  <a:moveTo>
                    <a:pt x="0" y="184150"/>
                  </a:moveTo>
                  <a:cubicBezTo>
                    <a:pt x="0" y="82423"/>
                    <a:pt x="82804" y="0"/>
                    <a:pt x="184785" y="0"/>
                  </a:cubicBezTo>
                  <a:lnTo>
                    <a:pt x="5973826" y="0"/>
                  </a:lnTo>
                  <a:lnTo>
                    <a:pt x="5973826" y="25400"/>
                  </a:lnTo>
                  <a:lnTo>
                    <a:pt x="5973826" y="0"/>
                  </a:lnTo>
                  <a:cubicBezTo>
                    <a:pt x="6075807" y="0"/>
                    <a:pt x="6158611" y="82423"/>
                    <a:pt x="6158611" y="184150"/>
                  </a:cubicBezTo>
                  <a:lnTo>
                    <a:pt x="6133211" y="184150"/>
                  </a:lnTo>
                  <a:lnTo>
                    <a:pt x="6158611" y="184150"/>
                  </a:lnTo>
                  <a:lnTo>
                    <a:pt x="6158611" y="3961003"/>
                  </a:lnTo>
                  <a:lnTo>
                    <a:pt x="6133211" y="3961003"/>
                  </a:lnTo>
                  <a:lnTo>
                    <a:pt x="6158611" y="3961003"/>
                  </a:lnTo>
                  <a:cubicBezTo>
                    <a:pt x="6158611" y="4062857"/>
                    <a:pt x="6075807" y="4145153"/>
                    <a:pt x="5973826" y="4145153"/>
                  </a:cubicBezTo>
                  <a:lnTo>
                    <a:pt x="5973826" y="4119753"/>
                  </a:lnTo>
                  <a:lnTo>
                    <a:pt x="5973826" y="4145153"/>
                  </a:lnTo>
                  <a:lnTo>
                    <a:pt x="184785" y="4145153"/>
                  </a:lnTo>
                  <a:lnTo>
                    <a:pt x="184785" y="4119753"/>
                  </a:lnTo>
                  <a:lnTo>
                    <a:pt x="184785" y="4145153"/>
                  </a:lnTo>
                  <a:cubicBezTo>
                    <a:pt x="82804" y="4145153"/>
                    <a:pt x="0" y="4062857"/>
                    <a:pt x="0" y="3961003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961003"/>
                  </a:lnTo>
                  <a:lnTo>
                    <a:pt x="25400" y="3961003"/>
                  </a:lnTo>
                  <a:lnTo>
                    <a:pt x="50800" y="3961003"/>
                  </a:lnTo>
                  <a:cubicBezTo>
                    <a:pt x="50800" y="4034536"/>
                    <a:pt x="110744" y="4094353"/>
                    <a:pt x="184785" y="4094353"/>
                  </a:cubicBezTo>
                  <a:lnTo>
                    <a:pt x="5973826" y="4094353"/>
                  </a:lnTo>
                  <a:cubicBezTo>
                    <a:pt x="6047994" y="4094353"/>
                    <a:pt x="6107811" y="4034536"/>
                    <a:pt x="6107811" y="3961003"/>
                  </a:cubicBezTo>
                  <a:lnTo>
                    <a:pt x="6107811" y="184150"/>
                  </a:lnTo>
                  <a:cubicBezTo>
                    <a:pt x="6107811" y="110617"/>
                    <a:pt x="6047867" y="50800"/>
                    <a:pt x="5973826" y="50800"/>
                  </a:cubicBezTo>
                  <a:lnTo>
                    <a:pt x="184785" y="50800"/>
                  </a:lnTo>
                  <a:lnTo>
                    <a:pt x="184785" y="25400"/>
                  </a:lnTo>
                  <a:lnTo>
                    <a:pt x="184785" y="50800"/>
                  </a:lnTo>
                  <a:cubicBezTo>
                    <a:pt x="110744" y="50800"/>
                    <a:pt x="50800" y="110617"/>
                    <a:pt x="50800" y="1841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13859" y="4063898"/>
            <a:ext cx="364524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Experiment Runner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9" y="4600727"/>
            <a:ext cx="3937692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Automated pipeline execution with consistent random sampling from TruthfulQA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37634" y="3742287"/>
            <a:ext cx="4619177" cy="3108874"/>
            <a:chOff x="0" y="0"/>
            <a:chExt cx="6158903" cy="41451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6108065" cy="4094353"/>
            </a:xfrm>
            <a:custGeom>
              <a:avLst/>
              <a:gdLst/>
              <a:ahLst/>
              <a:cxnLst/>
              <a:rect r="r" b="b" t="t" l="l"/>
              <a:pathLst>
                <a:path h="4094353" w="6108065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5948680" y="0"/>
                  </a:lnTo>
                  <a:cubicBezTo>
                    <a:pt x="6036691" y="0"/>
                    <a:pt x="6108065" y="71120"/>
                    <a:pt x="6108065" y="158750"/>
                  </a:cubicBezTo>
                  <a:lnTo>
                    <a:pt x="6108065" y="3935603"/>
                  </a:lnTo>
                  <a:cubicBezTo>
                    <a:pt x="6108065" y="4023233"/>
                    <a:pt x="6036691" y="4094353"/>
                    <a:pt x="5948680" y="4094353"/>
                  </a:cubicBezTo>
                  <a:lnTo>
                    <a:pt x="159385" y="4094353"/>
                  </a:lnTo>
                  <a:cubicBezTo>
                    <a:pt x="71374" y="4094353"/>
                    <a:pt x="0" y="4023233"/>
                    <a:pt x="0" y="3935603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58865" cy="4145153"/>
            </a:xfrm>
            <a:custGeom>
              <a:avLst/>
              <a:gdLst/>
              <a:ahLst/>
              <a:cxnLst/>
              <a:rect r="r" b="b" t="t" l="l"/>
              <a:pathLst>
                <a:path h="4145153" w="6158865">
                  <a:moveTo>
                    <a:pt x="0" y="184150"/>
                  </a:moveTo>
                  <a:cubicBezTo>
                    <a:pt x="0" y="82423"/>
                    <a:pt x="82804" y="0"/>
                    <a:pt x="184785" y="0"/>
                  </a:cubicBezTo>
                  <a:lnTo>
                    <a:pt x="5974080" y="0"/>
                  </a:lnTo>
                  <a:lnTo>
                    <a:pt x="5974080" y="25400"/>
                  </a:lnTo>
                  <a:lnTo>
                    <a:pt x="5974080" y="0"/>
                  </a:lnTo>
                  <a:cubicBezTo>
                    <a:pt x="6076061" y="0"/>
                    <a:pt x="6158865" y="82423"/>
                    <a:pt x="6158865" y="184150"/>
                  </a:cubicBezTo>
                  <a:lnTo>
                    <a:pt x="6133465" y="184150"/>
                  </a:lnTo>
                  <a:lnTo>
                    <a:pt x="6158865" y="184150"/>
                  </a:lnTo>
                  <a:lnTo>
                    <a:pt x="6158865" y="3961003"/>
                  </a:lnTo>
                  <a:lnTo>
                    <a:pt x="6133465" y="3961003"/>
                  </a:lnTo>
                  <a:lnTo>
                    <a:pt x="6158865" y="3961003"/>
                  </a:lnTo>
                  <a:cubicBezTo>
                    <a:pt x="6158865" y="4062857"/>
                    <a:pt x="6076061" y="4145153"/>
                    <a:pt x="5974080" y="4145153"/>
                  </a:cubicBezTo>
                  <a:lnTo>
                    <a:pt x="5974080" y="4119753"/>
                  </a:lnTo>
                  <a:lnTo>
                    <a:pt x="5974080" y="4145153"/>
                  </a:lnTo>
                  <a:lnTo>
                    <a:pt x="184785" y="4145153"/>
                  </a:lnTo>
                  <a:lnTo>
                    <a:pt x="184785" y="4119753"/>
                  </a:lnTo>
                  <a:lnTo>
                    <a:pt x="184785" y="4145153"/>
                  </a:lnTo>
                  <a:cubicBezTo>
                    <a:pt x="82804" y="4145153"/>
                    <a:pt x="0" y="4062857"/>
                    <a:pt x="0" y="3961003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961003"/>
                  </a:lnTo>
                  <a:lnTo>
                    <a:pt x="25400" y="3961003"/>
                  </a:lnTo>
                  <a:lnTo>
                    <a:pt x="50800" y="3961003"/>
                  </a:lnTo>
                  <a:cubicBezTo>
                    <a:pt x="50800" y="4034536"/>
                    <a:pt x="110744" y="4094353"/>
                    <a:pt x="184785" y="4094353"/>
                  </a:cubicBezTo>
                  <a:lnTo>
                    <a:pt x="5974080" y="4094353"/>
                  </a:lnTo>
                  <a:cubicBezTo>
                    <a:pt x="6048248" y="4094353"/>
                    <a:pt x="6108065" y="4034536"/>
                    <a:pt x="6108065" y="3961003"/>
                  </a:cubicBezTo>
                  <a:lnTo>
                    <a:pt x="6108065" y="184150"/>
                  </a:lnTo>
                  <a:cubicBezTo>
                    <a:pt x="6108065" y="110617"/>
                    <a:pt x="6048121" y="50800"/>
                    <a:pt x="5974080" y="50800"/>
                  </a:cubicBezTo>
                  <a:lnTo>
                    <a:pt x="184785" y="50800"/>
                  </a:lnTo>
                  <a:lnTo>
                    <a:pt x="184785" y="25400"/>
                  </a:lnTo>
                  <a:lnTo>
                    <a:pt x="184785" y="50800"/>
                  </a:lnTo>
                  <a:cubicBezTo>
                    <a:pt x="110744" y="50800"/>
                    <a:pt x="50800" y="110617"/>
                    <a:pt x="50800" y="1841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178306" y="4063898"/>
            <a:ext cx="3937845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Multi-Model Execution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78306" y="5043640"/>
            <a:ext cx="3937845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Simultaneous testing across GPT and Mistral with unified scoring framework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3188" y="7096573"/>
            <a:ext cx="9483623" cy="2201618"/>
            <a:chOff x="0" y="0"/>
            <a:chExt cx="12644831" cy="29354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1259408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2594082">
                  <a:moveTo>
                    <a:pt x="0" y="158750"/>
                  </a:moveTo>
                  <a:cubicBezTo>
                    <a:pt x="0" y="71120"/>
                    <a:pt x="72009" y="0"/>
                    <a:pt x="160909" y="0"/>
                  </a:cubicBezTo>
                  <a:lnTo>
                    <a:pt x="12433173" y="0"/>
                  </a:lnTo>
                  <a:cubicBezTo>
                    <a:pt x="12522073" y="0"/>
                    <a:pt x="12594082" y="71120"/>
                    <a:pt x="12594082" y="158750"/>
                  </a:cubicBezTo>
                  <a:lnTo>
                    <a:pt x="12594082" y="2725928"/>
                  </a:lnTo>
                  <a:cubicBezTo>
                    <a:pt x="12594082" y="2813558"/>
                    <a:pt x="12522073" y="2884678"/>
                    <a:pt x="12433173" y="2884678"/>
                  </a:cubicBezTo>
                  <a:lnTo>
                    <a:pt x="160909" y="2884678"/>
                  </a:lnTo>
                  <a:cubicBezTo>
                    <a:pt x="72009" y="2884678"/>
                    <a:pt x="0" y="2813558"/>
                    <a:pt x="0" y="2725928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4488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2644882">
                  <a:moveTo>
                    <a:pt x="0" y="184150"/>
                  </a:moveTo>
                  <a:cubicBezTo>
                    <a:pt x="0" y="82169"/>
                    <a:pt x="83693" y="0"/>
                    <a:pt x="186309" y="0"/>
                  </a:cubicBezTo>
                  <a:lnTo>
                    <a:pt x="12458573" y="0"/>
                  </a:lnTo>
                  <a:lnTo>
                    <a:pt x="12458573" y="25400"/>
                  </a:lnTo>
                  <a:lnTo>
                    <a:pt x="12458573" y="0"/>
                  </a:lnTo>
                  <a:cubicBezTo>
                    <a:pt x="12561189" y="0"/>
                    <a:pt x="12644882" y="82169"/>
                    <a:pt x="12644882" y="184150"/>
                  </a:cubicBezTo>
                  <a:lnTo>
                    <a:pt x="12619482" y="184150"/>
                  </a:lnTo>
                  <a:lnTo>
                    <a:pt x="12644882" y="184150"/>
                  </a:lnTo>
                  <a:lnTo>
                    <a:pt x="12644882" y="2751328"/>
                  </a:lnTo>
                  <a:lnTo>
                    <a:pt x="12619482" y="2751328"/>
                  </a:lnTo>
                  <a:lnTo>
                    <a:pt x="12644882" y="2751328"/>
                  </a:lnTo>
                  <a:cubicBezTo>
                    <a:pt x="12644882" y="2853309"/>
                    <a:pt x="12561189" y="2935478"/>
                    <a:pt x="12458573" y="2935478"/>
                  </a:cubicBezTo>
                  <a:lnTo>
                    <a:pt x="12458573" y="2910078"/>
                  </a:lnTo>
                  <a:lnTo>
                    <a:pt x="12458573" y="2935478"/>
                  </a:lnTo>
                  <a:lnTo>
                    <a:pt x="186309" y="2935478"/>
                  </a:lnTo>
                  <a:lnTo>
                    <a:pt x="186309" y="2910078"/>
                  </a:lnTo>
                  <a:lnTo>
                    <a:pt x="186309" y="2935478"/>
                  </a:lnTo>
                  <a:cubicBezTo>
                    <a:pt x="83693" y="2935478"/>
                    <a:pt x="0" y="2853309"/>
                    <a:pt x="0" y="275132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51328"/>
                  </a:lnTo>
                  <a:lnTo>
                    <a:pt x="25400" y="2751328"/>
                  </a:lnTo>
                  <a:lnTo>
                    <a:pt x="50800" y="2751328"/>
                  </a:lnTo>
                  <a:cubicBezTo>
                    <a:pt x="50800" y="2824607"/>
                    <a:pt x="111125" y="2884678"/>
                    <a:pt x="186309" y="2884678"/>
                  </a:cubicBezTo>
                  <a:lnTo>
                    <a:pt x="12458573" y="2884678"/>
                  </a:lnTo>
                  <a:cubicBezTo>
                    <a:pt x="12533757" y="2884678"/>
                    <a:pt x="12594082" y="2824607"/>
                    <a:pt x="12594082" y="2751328"/>
                  </a:cubicBezTo>
                  <a:lnTo>
                    <a:pt x="12594082" y="184150"/>
                  </a:lnTo>
                  <a:cubicBezTo>
                    <a:pt x="12594082" y="110871"/>
                    <a:pt x="12533757" y="50800"/>
                    <a:pt x="12458573" y="50800"/>
                  </a:cubicBezTo>
                  <a:lnTo>
                    <a:pt x="186309" y="50800"/>
                  </a:lnTo>
                  <a:lnTo>
                    <a:pt x="186309" y="25400"/>
                  </a:lnTo>
                  <a:lnTo>
                    <a:pt x="186309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13859" y="741818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Validation Pipeline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3859" y="7955013"/>
            <a:ext cx="880229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20 questions per experimental run with reproducible results for comparison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54434" y="698897"/>
            <a:ext cx="6134395" cy="77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Current Capabilities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4434" y="1866452"/>
            <a:ext cx="1186758" cy="1424140"/>
            <a:chOff x="0" y="0"/>
            <a:chExt cx="1582344" cy="189885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82293" cy="1898904"/>
            </a:xfrm>
            <a:custGeom>
              <a:avLst/>
              <a:gdLst/>
              <a:ahLst/>
              <a:cxnLst/>
              <a:rect r="r" b="b" t="t" l="l"/>
              <a:pathLst>
                <a:path h="1898904" w="1582293">
                  <a:moveTo>
                    <a:pt x="0" y="0"/>
                  </a:moveTo>
                  <a:lnTo>
                    <a:pt x="1582293" y="0"/>
                  </a:lnTo>
                  <a:lnTo>
                    <a:pt x="1582293" y="1898904"/>
                  </a:lnTo>
                  <a:lnTo>
                    <a:pt x="0" y="1898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339873" y="2103682"/>
            <a:ext cx="4085330" cy="37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LLM Response Generation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9873" y="2546147"/>
            <a:ext cx="14993541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Multi-model query execution with standardized input handling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4434" y="3290592"/>
            <a:ext cx="1186758" cy="1424140"/>
            <a:chOff x="0" y="0"/>
            <a:chExt cx="1582344" cy="189885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582293" cy="1898904"/>
            </a:xfrm>
            <a:custGeom>
              <a:avLst/>
              <a:gdLst/>
              <a:ahLst/>
              <a:cxnLst/>
              <a:rect r="r" b="b" t="t" l="l"/>
              <a:pathLst>
                <a:path h="1898904" w="1582293">
                  <a:moveTo>
                    <a:pt x="0" y="0"/>
                  </a:moveTo>
                  <a:lnTo>
                    <a:pt x="1582293" y="0"/>
                  </a:lnTo>
                  <a:lnTo>
                    <a:pt x="1582293" y="1898904"/>
                  </a:lnTo>
                  <a:lnTo>
                    <a:pt x="0" y="1898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339873" y="3527822"/>
            <a:ext cx="2967190" cy="37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Claim Extraction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39873" y="3970287"/>
            <a:ext cx="14993541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Factual assertion identification with sentence-level granularity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4434" y="4714723"/>
            <a:ext cx="1186758" cy="1424140"/>
            <a:chOff x="0" y="0"/>
            <a:chExt cx="1582344" cy="1898853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582293" cy="1898904"/>
            </a:xfrm>
            <a:custGeom>
              <a:avLst/>
              <a:gdLst/>
              <a:ahLst/>
              <a:cxnLst/>
              <a:rect r="r" b="b" t="t" l="l"/>
              <a:pathLst>
                <a:path h="1898904" w="1582293">
                  <a:moveTo>
                    <a:pt x="0" y="0"/>
                  </a:moveTo>
                  <a:lnTo>
                    <a:pt x="1582293" y="0"/>
                  </a:lnTo>
                  <a:lnTo>
                    <a:pt x="1582293" y="1898904"/>
                  </a:lnTo>
                  <a:lnTo>
                    <a:pt x="0" y="1898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339873" y="4951962"/>
            <a:ext cx="2967190" cy="37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Evidence Retrieval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39873" y="5394427"/>
            <a:ext cx="14993541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Wikipedia-based source fetching with relevance ranking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4434" y="6138862"/>
            <a:ext cx="1186758" cy="1424140"/>
            <a:chOff x="0" y="0"/>
            <a:chExt cx="1582344" cy="1898853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582293" cy="1898904"/>
            </a:xfrm>
            <a:custGeom>
              <a:avLst/>
              <a:gdLst/>
              <a:ahLst/>
              <a:cxnLst/>
              <a:rect r="r" b="b" t="t" l="l"/>
              <a:pathLst>
                <a:path h="1898904" w="1582293">
                  <a:moveTo>
                    <a:pt x="0" y="0"/>
                  </a:moveTo>
                  <a:lnTo>
                    <a:pt x="1582293" y="0"/>
                  </a:lnTo>
                  <a:lnTo>
                    <a:pt x="1582293" y="1898904"/>
                  </a:lnTo>
                  <a:lnTo>
                    <a:pt x="0" y="1898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339873" y="6376092"/>
            <a:ext cx="3640779" cy="37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Hallucination 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39873" y="6818557"/>
            <a:ext cx="14993541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Confidence scoring with support/contradiction classification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4434" y="7563002"/>
            <a:ext cx="1186758" cy="1424140"/>
            <a:chOff x="0" y="0"/>
            <a:chExt cx="1582344" cy="1898853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582293" cy="1898904"/>
            </a:xfrm>
            <a:custGeom>
              <a:avLst/>
              <a:gdLst/>
              <a:ahLst/>
              <a:cxnLst/>
              <a:rect r="r" b="b" t="t" l="l"/>
              <a:pathLst>
                <a:path h="1898904" w="1582293">
                  <a:moveTo>
                    <a:pt x="0" y="0"/>
                  </a:moveTo>
                  <a:lnTo>
                    <a:pt x="1582293" y="0"/>
                  </a:lnTo>
                  <a:lnTo>
                    <a:pt x="1582293" y="1898904"/>
                  </a:lnTo>
                  <a:lnTo>
                    <a:pt x="0" y="1898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339873" y="7800232"/>
            <a:ext cx="3177931" cy="37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Response Correction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39873" y="8242697"/>
            <a:ext cx="14993541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Verified evidence integration for factual accuracy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4434" y="9163050"/>
            <a:ext cx="16378980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End-to-end experimental loop fully operational with early-stage hallucination labeling validated on test dataset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02709"/>
            <a:ext cx="1450821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Current Limitations &amp; Work in Progress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2865234"/>
            <a:ext cx="5283546" cy="3108874"/>
            <a:chOff x="0" y="0"/>
            <a:chExt cx="7044728" cy="41451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6993890" cy="4094353"/>
            </a:xfrm>
            <a:custGeom>
              <a:avLst/>
              <a:gdLst/>
              <a:ahLst/>
              <a:cxnLst/>
              <a:rect r="r" b="b" t="t" l="l"/>
              <a:pathLst>
                <a:path h="4094353" w="6993890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4690" cy="4145153"/>
            </a:xfrm>
            <a:custGeom>
              <a:avLst/>
              <a:gdLst/>
              <a:ahLst/>
              <a:cxnLst/>
              <a:rect r="r" b="b" t="t" l="l"/>
              <a:pathLst>
                <a:path h="4145153" w="7044690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2884284"/>
            <a:ext cx="152400" cy="3070774"/>
            <a:chOff x="0" y="0"/>
            <a:chExt cx="203200" cy="40943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3186855"/>
            <a:ext cx="448791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Claim Extraction Refinement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4166597"/>
            <a:ext cx="448791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Improving precision in identifying testable versus generic statements within LLM responses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2156" y="2865234"/>
            <a:ext cx="5283546" cy="3108874"/>
            <a:chOff x="0" y="0"/>
            <a:chExt cx="7044728" cy="41451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6993890" cy="4094353"/>
            </a:xfrm>
            <a:custGeom>
              <a:avLst/>
              <a:gdLst/>
              <a:ahLst/>
              <a:cxnLst/>
              <a:rect r="r" b="b" t="t" l="l"/>
              <a:pathLst>
                <a:path h="4094353" w="6993890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4690" cy="4145153"/>
            </a:xfrm>
            <a:custGeom>
              <a:avLst/>
              <a:gdLst/>
              <a:ahLst/>
              <a:cxnLst/>
              <a:rect r="r" b="b" t="t" l="l"/>
              <a:pathLst>
                <a:path h="4145153" w="7044690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83106" y="2884284"/>
            <a:ext cx="152400" cy="3070774"/>
            <a:chOff x="0" y="0"/>
            <a:chExt cx="203200" cy="40943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957117" y="3186855"/>
            <a:ext cx="444326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Threshold Optimization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7117" y="3723684"/>
            <a:ext cx="448791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Tuning detection logic thresholds to balance false positives against missed hallucinations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1113" y="2865234"/>
            <a:ext cx="5283546" cy="3108874"/>
            <a:chOff x="0" y="0"/>
            <a:chExt cx="7044728" cy="41451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6993890" cy="4094353"/>
            </a:xfrm>
            <a:custGeom>
              <a:avLst/>
              <a:gdLst/>
              <a:ahLst/>
              <a:cxnLst/>
              <a:rect r="r" b="b" t="t" l="l"/>
              <a:pathLst>
                <a:path h="4094353" w="6993890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4690" cy="4145153"/>
            </a:xfrm>
            <a:custGeom>
              <a:avLst/>
              <a:gdLst/>
              <a:ahLst/>
              <a:cxnLst/>
              <a:rect r="r" b="b" t="t" l="l"/>
              <a:pathLst>
                <a:path h="4145153" w="7044690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12063" y="2884284"/>
            <a:ext cx="152400" cy="3070774"/>
            <a:chOff x="0" y="0"/>
            <a:chExt cx="203200" cy="40943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486084" y="3186855"/>
            <a:ext cx="356592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Retrieval Relevance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86084" y="3723684"/>
            <a:ext cx="4487913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Enhancing evidence source ranking to prioritize most authoritative and contextually relevant references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3188" y="6219530"/>
            <a:ext cx="5283546" cy="2655246"/>
            <a:chOff x="0" y="0"/>
            <a:chExt cx="7044728" cy="35403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4138" y="6238580"/>
            <a:ext cx="152400" cy="2617146"/>
            <a:chOff x="0" y="0"/>
            <a:chExt cx="203200" cy="34895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28159" y="6541141"/>
            <a:ext cx="390212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Correction Validation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8159" y="7077970"/>
            <a:ext cx="448791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Developing automated quality checks for rewritten responses to ensure factual accuracy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502156" y="6219530"/>
            <a:ext cx="5283546" cy="2655246"/>
            <a:chOff x="0" y="0"/>
            <a:chExt cx="7044728" cy="35403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83106" y="6238580"/>
            <a:ext cx="152400" cy="2617146"/>
            <a:chOff x="0" y="0"/>
            <a:chExt cx="203200" cy="34895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957117" y="654114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Scalability Testing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957117" y="7077970"/>
            <a:ext cx="448791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Expanding beyond 20-question samples to production-scale evaluation with larger datasets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88797"/>
            <a:ext cx="806380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Next Phases Roadmap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24950" y="2370382"/>
            <a:ext cx="38100" cy="6999084"/>
            <a:chOff x="0" y="0"/>
            <a:chExt cx="50800" cy="9332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" cy="9332087"/>
            </a:xfrm>
            <a:custGeom>
              <a:avLst/>
              <a:gdLst/>
              <a:ahLst/>
              <a:cxnLst/>
              <a:rect r="r" b="b" t="t" l="l"/>
              <a:pathLst>
                <a:path h="933208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9306687"/>
                  </a:lnTo>
                  <a:cubicBezTo>
                    <a:pt x="50800" y="9320657"/>
                    <a:pt x="39370" y="9332087"/>
                    <a:pt x="25400" y="9332087"/>
                  </a:cubicBezTo>
                  <a:cubicBezTo>
                    <a:pt x="11430" y="9332087"/>
                    <a:pt x="0" y="9320657"/>
                    <a:pt x="0" y="930668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12611" y="2670277"/>
            <a:ext cx="850554" cy="38100"/>
            <a:chOff x="0" y="0"/>
            <a:chExt cx="1134072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20302" y="2365619"/>
            <a:ext cx="647405" cy="647405"/>
            <a:chOff x="0" y="0"/>
            <a:chExt cx="863206" cy="8632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931402" y="2480672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11091" y="2448668"/>
            <a:ext cx="471532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3: Robust Detection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2985497"/>
            <a:ext cx="673417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Production-grade hallucination detection with improved accuracy and reduced false positives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24835" y="4371384"/>
            <a:ext cx="850554" cy="38100"/>
            <a:chOff x="0" y="0"/>
            <a:chExt cx="1134072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820302" y="4066727"/>
            <a:ext cx="647405" cy="647405"/>
            <a:chOff x="0" y="0"/>
            <a:chExt cx="863206" cy="8632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931402" y="4181770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61587" y="4149776"/>
            <a:ext cx="4998691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4: Correction Quality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61587" y="4686595"/>
            <a:ext cx="673417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Advanced "fix the lie" capabilities with validated factual accuracy in rewritten responses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012611" y="5837634"/>
            <a:ext cx="850554" cy="38100"/>
            <a:chOff x="0" y="0"/>
            <a:chExt cx="1134072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820302" y="5532987"/>
            <a:ext cx="647405" cy="647405"/>
            <a:chOff x="0" y="0"/>
            <a:chExt cx="863206" cy="8632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931402" y="5648030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15968" y="5616026"/>
            <a:ext cx="501044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5: System Integration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2238" y="6152855"/>
            <a:ext cx="673417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Stress testing at scale with integration into production LLM pipelines and real-world workloads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424835" y="7303884"/>
            <a:ext cx="850554" cy="38100"/>
            <a:chOff x="0" y="0"/>
            <a:chExt cx="1134072" cy="50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820302" y="6999237"/>
            <a:ext cx="647405" cy="647405"/>
            <a:chOff x="0" y="0"/>
            <a:chExt cx="863206" cy="8632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931402" y="7114280"/>
            <a:ext cx="425206" cy="47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61587" y="7082285"/>
            <a:ext cx="443865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6: Documentation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561587" y="7619105"/>
            <a:ext cx="673417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IEEE-compliant technical documentation and formal publication for peer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DAHGOWjvxiQ</dc:identifier>
  <dcterms:modified xsi:type="dcterms:W3CDTF">2011-08-01T06:04:30Z</dcterms:modified>
  <cp:revision>1</cp:revision>
  <dc:title>RealityCheck Midterm</dc:title>
</cp:coreProperties>
</file>