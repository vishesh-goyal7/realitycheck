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webextensions/webextension2.xml" ContentType="application/vnd.ms-office.webextension+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193519-617E-45DA-9461-43EB11B3A0AE}" v="757" dt="2026-07-23T21:16:23.0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EDF2CE-7659-482E-B477-FDC7CB79BBE5}" type="datetimeFigureOut">
              <a:t>7/23/2026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FA8F23-8335-47E5-B4BA-B885F7FCAFB2}" type="slidenum">
              <a:t>‹#›</a:t>
            </a:fld>
            <a:endParaRPr lang="en-US"/>
          </a:p>
        </p:txBody>
      </p:sp>
    </p:spTree>
    <p:extLst>
      <p:ext uri="{BB962C8B-B14F-4D97-AF65-F5344CB8AC3E}">
        <p14:creationId xmlns:p14="http://schemas.microsoft.com/office/powerpoint/2010/main" val="2686848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Good morning professors. Today, I am giving my UG Thesis presentation for </a:t>
            </a:r>
            <a:r>
              <a:rPr lang="en-US" dirty="0" err="1">
                <a:ea typeface="Calibri"/>
                <a:cs typeface="Calibri"/>
              </a:rPr>
              <a:t>RealityCheck</a:t>
            </a:r>
            <a:r>
              <a:rPr lang="en-US" dirty="0">
                <a:ea typeface="Calibri"/>
                <a:cs typeface="Calibri"/>
              </a:rPr>
              <a:t>. It is a hallucination detection and correction system for LLMs. Made by me under the guidance of Dr. Jayita Saha, the system is complete and ready as an </a:t>
            </a:r>
            <a:r>
              <a:rPr lang="en-US" dirty="0" err="1">
                <a:ea typeface="Calibri"/>
                <a:cs typeface="Calibri"/>
              </a:rPr>
              <a:t>end to end</a:t>
            </a:r>
            <a:r>
              <a:rPr lang="en-US" dirty="0">
                <a:ea typeface="Calibri"/>
                <a:cs typeface="Calibri"/>
              </a:rPr>
              <a:t> deployable pipeline. Me and Jayita ma'am are </a:t>
            </a:r>
            <a:r>
              <a:rPr lang="en-US" dirty="0" err="1">
                <a:ea typeface="Calibri"/>
                <a:cs typeface="Calibri"/>
              </a:rPr>
              <a:t>targetting</a:t>
            </a:r>
            <a:r>
              <a:rPr lang="en-US" dirty="0">
                <a:ea typeface="Calibri"/>
                <a:cs typeface="Calibri"/>
              </a:rPr>
              <a:t> to publish this as a research paper in a journal. </a:t>
            </a:r>
          </a:p>
        </p:txBody>
      </p:sp>
      <p:sp>
        <p:nvSpPr>
          <p:cNvPr id="4" name="Slide Number Placeholder 3"/>
          <p:cNvSpPr>
            <a:spLocks noGrp="1"/>
          </p:cNvSpPr>
          <p:nvPr>
            <p:ph type="sldNum" sz="quarter" idx="5"/>
          </p:nvPr>
        </p:nvSpPr>
        <p:spPr/>
        <p:txBody>
          <a:bodyPr/>
          <a:lstStyle/>
          <a:p>
            <a:fld id="{FFFA8F23-8335-47E5-B4BA-B885F7FCAFB2}" type="slidenum">
              <a:t>1</a:t>
            </a:fld>
            <a:endParaRPr lang="en-US"/>
          </a:p>
        </p:txBody>
      </p:sp>
    </p:spTree>
    <p:extLst>
      <p:ext uri="{BB962C8B-B14F-4D97-AF65-F5344CB8AC3E}">
        <p14:creationId xmlns:p14="http://schemas.microsoft.com/office/powerpoint/2010/main" val="294794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Before we move on to the </a:t>
            </a:r>
            <a:r>
              <a:rPr lang="en-US">
                <a:ea typeface="Calibri"/>
                <a:cs typeface="Calibri"/>
              </a:rPr>
              <a:t>actual project, here is a brief introduction about myself. I am Vishesh Goyal. Currently, I am in my fourth year and working at IIT Delhi as a quantum communications research intern under the National </a:t>
            </a:r>
            <a:r>
              <a:rPr lang="en-US" dirty="0">
                <a:ea typeface="Calibri"/>
                <a:cs typeface="Calibri"/>
              </a:rPr>
              <a:t>Quantum Mission. I have a strong interest in Quantum Computing and Quantum Cyber Security and wish to purse a PhD into the subject as my career path. </a:t>
            </a:r>
          </a:p>
        </p:txBody>
      </p:sp>
      <p:sp>
        <p:nvSpPr>
          <p:cNvPr id="4" name="Slide Number Placeholder 3"/>
          <p:cNvSpPr>
            <a:spLocks noGrp="1"/>
          </p:cNvSpPr>
          <p:nvPr>
            <p:ph type="sldNum" sz="quarter" idx="5"/>
          </p:nvPr>
        </p:nvSpPr>
        <p:spPr/>
        <p:txBody>
          <a:bodyPr/>
          <a:lstStyle/>
          <a:p>
            <a:fld id="{FFFA8F23-8335-47E5-B4BA-B885F7FCAFB2}" type="slidenum">
              <a:t>2</a:t>
            </a:fld>
            <a:endParaRPr lang="en-US"/>
          </a:p>
        </p:txBody>
      </p:sp>
    </p:spTree>
    <p:extLst>
      <p:ext uri="{BB962C8B-B14F-4D97-AF65-F5344CB8AC3E}">
        <p14:creationId xmlns:p14="http://schemas.microsoft.com/office/powerpoint/2010/main" val="2004336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A large majority of people have started to use LLMs in different domains, requirements and work sensitivity. However, LLM responses are not always correct. The tone of presentation, the adaptive user psychology and the language fluency presents the answers in a way that it convinces the </a:t>
            </a:r>
            <a:r>
              <a:rPr lang="en-US" dirty="0" err="1">
                <a:ea typeface="Calibri"/>
                <a:cs typeface="Calibri"/>
              </a:rPr>
              <a:t>people</a:t>
            </a:r>
            <a:r>
              <a:rPr lang="en-US" dirty="0">
                <a:ea typeface="Calibri"/>
                <a:cs typeface="Calibri"/>
              </a:rPr>
              <a:t> and they trust it blindly without making an effort to search for the correctness of the response. As you can see in the table, a raw LLM can give partial, incorrect or contradictory claims when making a statement. The bigger problem in this is the lack of accountability with the user </a:t>
            </a:r>
            <a:r>
              <a:rPr lang="en-US" dirty="0" err="1">
                <a:ea typeface="Calibri"/>
                <a:cs typeface="Calibri"/>
              </a:rPr>
              <a:t>disclaime</a:t>
            </a:r>
            <a:r>
              <a:rPr lang="en-US" dirty="0">
                <a:ea typeface="Calibri"/>
                <a:cs typeface="Calibri"/>
              </a:rPr>
              <a:t>r that the companies put "ChatGPT is an AI and can make mistakes." The developers term it as Hallucinations. </a:t>
            </a:r>
          </a:p>
        </p:txBody>
      </p:sp>
      <p:sp>
        <p:nvSpPr>
          <p:cNvPr id="4" name="Slide Number Placeholder 3"/>
          <p:cNvSpPr>
            <a:spLocks noGrp="1"/>
          </p:cNvSpPr>
          <p:nvPr>
            <p:ph type="sldNum" sz="quarter" idx="5"/>
          </p:nvPr>
        </p:nvSpPr>
        <p:spPr/>
        <p:txBody>
          <a:bodyPr/>
          <a:lstStyle/>
          <a:p>
            <a:fld id="{FFFA8F23-8335-47E5-B4BA-B885F7FCAFB2}" type="slidenum">
              <a:t>3</a:t>
            </a:fld>
            <a:endParaRPr lang="en-US"/>
          </a:p>
        </p:txBody>
      </p:sp>
    </p:spTree>
    <p:extLst>
      <p:ext uri="{BB962C8B-B14F-4D97-AF65-F5344CB8AC3E}">
        <p14:creationId xmlns:p14="http://schemas.microsoft.com/office/powerpoint/2010/main" val="919899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 hallucination is a very big problem for every person. Apart from hampering with the work and reducing the efficiency, the domain criticality is equally important. For example, </a:t>
            </a:r>
            <a:endParaRPr lang="en-US"/>
          </a:p>
          <a:p>
            <a:r>
              <a:rPr lang="en-US">
                <a:ea typeface="Calibri"/>
                <a:cs typeface="Calibri"/>
              </a:rPr>
              <a:t>In healthcare sector, false medical claims generated by the LLMs can lead to bad clinical decisions. Earlier, when people faced any medical problem like coughing, they googl</a:t>
            </a:r>
            <a:r>
              <a:rPr lang="en-US" dirty="0">
                <a:solidFill>
                  <a:srgbClr val="000000"/>
                </a:solidFill>
                <a:latin typeface="Calibri"/>
                <a:ea typeface="Calibri"/>
                <a:cs typeface="Calibri"/>
              </a:rPr>
              <a:t>ed</a:t>
            </a:r>
            <a:r>
              <a:rPr lang="en-US" dirty="0">
                <a:ea typeface="Calibri"/>
                <a:cs typeface="Calibri"/>
              </a:rPr>
              <a:t> it and then made the decision of going to the doctor or not. Now, instead of Google, people rely on LLMs. </a:t>
            </a:r>
            <a:endParaRPr lang="en-US">
              <a:ea typeface="Calibri"/>
              <a:cs typeface="Calibri"/>
            </a:endParaRPr>
          </a:p>
          <a:p>
            <a:r>
              <a:rPr lang="en-US" dirty="0">
                <a:ea typeface="Calibri"/>
                <a:cs typeface="Calibri"/>
              </a:rPr>
              <a:t>In academic research, fabricated citations and wrong statistics can lead to a bad research output effecting the reliab</a:t>
            </a:r>
            <a:r>
              <a:rPr lang="en-US">
                <a:ea typeface="Calibri"/>
                <a:cs typeface="Calibri"/>
              </a:rPr>
              <a:t>ility of the research. </a:t>
            </a:r>
          </a:p>
        </p:txBody>
      </p:sp>
      <p:sp>
        <p:nvSpPr>
          <p:cNvPr id="4" name="Slide Number Placeholder 3"/>
          <p:cNvSpPr>
            <a:spLocks noGrp="1"/>
          </p:cNvSpPr>
          <p:nvPr>
            <p:ph type="sldNum" sz="quarter" idx="5"/>
          </p:nvPr>
        </p:nvSpPr>
        <p:spPr/>
        <p:txBody>
          <a:bodyPr/>
          <a:lstStyle/>
          <a:p>
            <a:fld id="{FFFA8F23-8335-47E5-B4BA-B885F7FCAFB2}" type="slidenum">
              <a:t>4</a:t>
            </a:fld>
            <a:endParaRPr lang="en-US"/>
          </a:p>
        </p:txBody>
      </p:sp>
    </p:spTree>
    <p:extLst>
      <p:ext uri="{BB962C8B-B14F-4D97-AF65-F5344CB8AC3E}">
        <p14:creationId xmlns:p14="http://schemas.microsoft.com/office/powerpoint/2010/main" val="1613373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91B3D-6AE1-D5C4-5B12-02C539918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17B2B4-5C9D-B833-D049-5814D20956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21F7CE-EAB2-B785-570B-3271E041FA5D}"/>
              </a:ext>
            </a:extLst>
          </p:cNvPr>
          <p:cNvSpPr>
            <a:spLocks noGrp="1"/>
          </p:cNvSpPr>
          <p:nvPr>
            <p:ph type="body" idx="1"/>
          </p:nvPr>
        </p:nvSpPr>
        <p:spPr/>
        <p:txBody>
          <a:bodyPr/>
          <a:lstStyle/>
          <a:p>
            <a:r>
              <a:rPr lang="en-US" dirty="0">
                <a:ea typeface="Calibri"/>
                <a:cs typeface="Calibri"/>
              </a:rPr>
              <a:t>The problem has been tackled to a scale by many different techn</a:t>
            </a:r>
            <a:r>
              <a:rPr lang="en-US">
                <a:ea typeface="Calibri"/>
                <a:cs typeface="Calibri"/>
              </a:rPr>
              <a:t>ologies. </a:t>
            </a:r>
            <a:endParaRPr lang="en-US" dirty="0">
              <a:ea typeface="Calibri"/>
              <a:cs typeface="Calibri"/>
            </a:endParaRPr>
          </a:p>
          <a:p>
            <a:r>
              <a:rPr lang="en-US" dirty="0">
                <a:ea typeface="Calibri"/>
                <a:cs typeface="Calibri"/>
              </a:rPr>
              <a:t>RAG, the retrieva</a:t>
            </a:r>
            <a:r>
              <a:rPr lang="en-US">
                <a:ea typeface="Calibri"/>
                <a:cs typeface="Calibri"/>
              </a:rPr>
              <a:t>l augmented generation, looks at the answer and </a:t>
            </a:r>
            <a:r>
              <a:rPr lang="en-US">
                <a:solidFill>
                  <a:srgbClr val="1F1F1F"/>
                </a:solidFill>
                <a:highlight>
                  <a:srgbClr val="FFFFFF"/>
                </a:highlight>
              </a:rPr>
              <a:t>identify hallucination patterns by </a:t>
            </a:r>
            <a:r>
              <a:rPr lang="en-US"/>
              <a:t>comparing generated answers to retrieved context. </a:t>
            </a:r>
            <a:endParaRPr lang="en-US" dirty="0">
              <a:ea typeface="Calibri"/>
              <a:cs typeface="Calibri"/>
            </a:endParaRPr>
          </a:p>
          <a:p>
            <a:r>
              <a:rPr lang="en-US" dirty="0">
                <a:ea typeface="Calibri"/>
                <a:cs typeface="Calibri"/>
              </a:rPr>
              <a:t>NLI </a:t>
            </a:r>
            <a:r>
              <a:rPr lang="en-US" dirty="0" err="1">
                <a:ea typeface="Calibri"/>
                <a:cs typeface="Calibri"/>
              </a:rPr>
              <a:t>verfication</a:t>
            </a:r>
            <a:r>
              <a:rPr lang="en-US" dirty="0">
                <a:ea typeface="Calibri"/>
                <a:cs typeface="Calibri"/>
              </a:rPr>
              <a:t> struggles with complex sentences or claims </a:t>
            </a:r>
            <a:r>
              <a:rPr lang="en-US" dirty="0" err="1">
                <a:ea typeface="Calibri"/>
                <a:cs typeface="Calibri"/>
              </a:rPr>
              <a:t>where</a:t>
            </a:r>
            <a:r>
              <a:rPr lang="en-US" dirty="0">
                <a:ea typeface="Calibri"/>
                <a:cs typeface="Calibri"/>
              </a:rPr>
              <a:t> two or three different conclusions chain up into a big claim. </a:t>
            </a:r>
          </a:p>
          <a:p>
            <a:r>
              <a:rPr lang="en-US" dirty="0">
                <a:ea typeface="Calibri"/>
                <a:cs typeface="Calibri"/>
              </a:rPr>
              <a:t>In </a:t>
            </a:r>
            <a:r>
              <a:rPr lang="en-US" dirty="0" err="1">
                <a:ea typeface="Calibri"/>
                <a:cs typeface="Calibri"/>
              </a:rPr>
              <a:t>self verification</a:t>
            </a:r>
            <a:r>
              <a:rPr lang="en-US" dirty="0">
                <a:ea typeface="Calibri"/>
                <a:cs typeface="Calibri"/>
              </a:rPr>
              <a:t> system, we ask the LLM itself to look at its response and find the hallucinations, detect mismatch and correct them. But they are limited by model's own knowledge and increase the number of tokens and the cost associated. </a:t>
            </a:r>
          </a:p>
          <a:p>
            <a:r>
              <a:rPr lang="en-US" dirty="0">
                <a:ea typeface="Calibri"/>
                <a:cs typeface="Calibri"/>
              </a:rPr>
              <a:t>Knowledge graphs make the generation much more </a:t>
            </a:r>
            <a:r>
              <a:rPr lang="en-US" err="1">
                <a:ea typeface="Calibri"/>
                <a:cs typeface="Calibri"/>
              </a:rPr>
              <a:t>accurate</a:t>
            </a:r>
            <a:r>
              <a:rPr lang="en-US" dirty="0">
                <a:ea typeface="Calibri"/>
                <a:cs typeface="Calibri"/>
              </a:rPr>
              <a:t> but limits the information only to the </a:t>
            </a:r>
            <a:r>
              <a:rPr lang="en-US">
                <a:ea typeface="Calibri"/>
                <a:cs typeface="Calibri"/>
              </a:rPr>
              <a:t>extent of the graph. </a:t>
            </a:r>
            <a:endParaRPr lang="en-US" dirty="0">
              <a:ea typeface="Calibri"/>
              <a:cs typeface="Calibri"/>
            </a:endParaRPr>
          </a:p>
          <a:p>
            <a:endParaRPr lang="en-US" dirty="0">
              <a:ea typeface="Calibri"/>
              <a:cs typeface="Calibri"/>
            </a:endParaRPr>
          </a:p>
          <a:p>
            <a:pPr>
              <a:lnSpc>
                <a:spcPct val="90000"/>
              </a:lnSpc>
              <a:spcBef>
                <a:spcPts val="1000"/>
              </a:spcBef>
            </a:pPr>
            <a:r>
              <a:rPr lang="en-US" dirty="0"/>
              <a:t>No existing system corrects a response </a:t>
            </a:r>
            <a:r>
              <a:rPr lang="en-US" b="1" dirty="0"/>
              <a:t>inline, before delivery, without retraining the model. </a:t>
            </a:r>
            <a:r>
              <a:rPr lang="en-US" dirty="0"/>
              <a:t>That's the exact gap </a:t>
            </a:r>
            <a:r>
              <a:rPr lang="en-US" dirty="0" err="1"/>
              <a:t>RealityCheck</a:t>
            </a:r>
            <a:r>
              <a:rPr lang="en-US" dirty="0"/>
              <a:t> is built for. </a:t>
            </a:r>
          </a:p>
        </p:txBody>
      </p:sp>
      <p:sp>
        <p:nvSpPr>
          <p:cNvPr id="4" name="Slide Number Placeholder 3">
            <a:extLst>
              <a:ext uri="{FF2B5EF4-FFF2-40B4-BE49-F238E27FC236}">
                <a16:creationId xmlns:a16="http://schemas.microsoft.com/office/drawing/2014/main" id="{6FE58D0C-E1D3-4460-2C53-6021E3595A15}"/>
              </a:ext>
            </a:extLst>
          </p:cNvPr>
          <p:cNvSpPr>
            <a:spLocks noGrp="1"/>
          </p:cNvSpPr>
          <p:nvPr>
            <p:ph type="sldNum" sz="quarter" idx="5"/>
          </p:nvPr>
        </p:nvSpPr>
        <p:spPr/>
        <p:txBody>
          <a:bodyPr/>
          <a:lstStyle/>
          <a:p>
            <a:fld id="{FFFA8F23-8335-47E5-B4BA-B885F7FCAFB2}" type="slidenum">
              <a:t>5</a:t>
            </a:fld>
            <a:endParaRPr lang="en-US"/>
          </a:p>
        </p:txBody>
      </p:sp>
    </p:spTree>
    <p:extLst>
      <p:ext uri="{BB962C8B-B14F-4D97-AF65-F5344CB8AC3E}">
        <p14:creationId xmlns:p14="http://schemas.microsoft.com/office/powerpoint/2010/main" val="1649229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DF596-AE59-3B56-468B-CD479568F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C321FE-ADE7-D452-6CB2-332695B11F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BED147-025D-A1EA-7FF3-6300BD3E382D}"/>
              </a:ext>
            </a:extLst>
          </p:cNvPr>
          <p:cNvSpPr>
            <a:spLocks noGrp="1"/>
          </p:cNvSpPr>
          <p:nvPr>
            <p:ph type="body" idx="1"/>
          </p:nvPr>
        </p:nvSpPr>
        <p:spPr/>
        <p:txBody>
          <a:bodyPr/>
          <a:lstStyle/>
          <a:p>
            <a:r>
              <a:rPr lang="en-US" dirty="0">
                <a:ea typeface="Calibri"/>
                <a:cs typeface="Calibri"/>
              </a:rPr>
              <a:t>So, we introduce </a:t>
            </a:r>
            <a:r>
              <a:rPr lang="en-US" dirty="0" err="1">
                <a:ea typeface="Calibri"/>
                <a:cs typeface="Calibri"/>
              </a:rPr>
              <a:t>RealityCheck</a:t>
            </a:r>
            <a:r>
              <a:rPr lang="en-US" dirty="0">
                <a:ea typeface="Calibri"/>
                <a:cs typeface="Calibri"/>
              </a:rPr>
              <a:t>. It is a </a:t>
            </a:r>
            <a:r>
              <a:rPr lang="en-US" dirty="0" err="1">
                <a:ea typeface="Calibri"/>
                <a:cs typeface="Calibri"/>
              </a:rPr>
              <a:t>six phase</a:t>
            </a:r>
            <a:r>
              <a:rPr lang="en-US" dirty="0">
                <a:ea typeface="Calibri"/>
                <a:cs typeface="Calibri"/>
              </a:rPr>
              <a:t> pipeline system to correct the LLM answers before they become visible to the user. Instead of focusing on danger identification and danger correction, our focus was on danger avoidance. </a:t>
            </a:r>
            <a:r>
              <a:rPr lang="en-US" dirty="0" err="1">
                <a:ea typeface="Calibri"/>
                <a:cs typeface="Calibri"/>
              </a:rPr>
              <a:t>RealityCheck</a:t>
            </a:r>
            <a:r>
              <a:rPr lang="en-US" dirty="0">
                <a:ea typeface="Calibri"/>
                <a:cs typeface="Calibri"/>
              </a:rPr>
              <a:t> is a model agnostic system. So, it can be used with any LLM without any issues. Plus, it is an external layer on top of the LLM. So, there is no architecture reworking required from the implementing model. Additionally, there is no limitation on the extent of knowledge since the system cross </a:t>
            </a:r>
            <a:r>
              <a:rPr lang="en-US" dirty="0" err="1">
                <a:ea typeface="Calibri"/>
                <a:cs typeface="Calibri"/>
              </a:rPr>
              <a:t>verfies</a:t>
            </a:r>
            <a:r>
              <a:rPr lang="en-US" dirty="0">
                <a:ea typeface="Calibri"/>
                <a:cs typeface="Calibri"/>
              </a:rPr>
              <a:t> the data directly </a:t>
            </a:r>
            <a:r>
              <a:rPr lang="en-US" dirty="0" err="1">
                <a:ea typeface="Calibri"/>
                <a:cs typeface="Calibri"/>
              </a:rPr>
              <a:t>fr</a:t>
            </a:r>
            <a:r>
              <a:rPr lang="en-US" dirty="0">
                <a:ea typeface="Calibri"/>
                <a:cs typeface="Calibri"/>
              </a:rPr>
              <a:t>om the source added at the time of implementation. </a:t>
            </a:r>
          </a:p>
        </p:txBody>
      </p:sp>
      <p:sp>
        <p:nvSpPr>
          <p:cNvPr id="4" name="Slide Number Placeholder 3">
            <a:extLst>
              <a:ext uri="{FF2B5EF4-FFF2-40B4-BE49-F238E27FC236}">
                <a16:creationId xmlns:a16="http://schemas.microsoft.com/office/drawing/2014/main" id="{C183559C-46C9-8371-6412-21B9A57B72BB}"/>
              </a:ext>
            </a:extLst>
          </p:cNvPr>
          <p:cNvSpPr>
            <a:spLocks noGrp="1"/>
          </p:cNvSpPr>
          <p:nvPr>
            <p:ph type="sldNum" sz="quarter" idx="5"/>
          </p:nvPr>
        </p:nvSpPr>
        <p:spPr/>
        <p:txBody>
          <a:bodyPr/>
          <a:lstStyle/>
          <a:p>
            <a:fld id="{FFFA8F23-8335-47E5-B4BA-B885F7FCAFB2}" type="slidenum">
              <a:t>6</a:t>
            </a:fld>
            <a:endParaRPr lang="en-US"/>
          </a:p>
        </p:txBody>
      </p:sp>
    </p:spTree>
    <p:extLst>
      <p:ext uri="{BB962C8B-B14F-4D97-AF65-F5344CB8AC3E}">
        <p14:creationId xmlns:p14="http://schemas.microsoft.com/office/powerpoint/2010/main" val="1421608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F701E-D0F6-A9EA-A690-7525D26E6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78FD7-A7B3-D40F-B418-84D2C7E256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D9472-C61A-D44C-ED0A-D76E77380A3E}"/>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55E54679-6B76-4075-B7B1-3DE677D1C647}"/>
              </a:ext>
            </a:extLst>
          </p:cNvPr>
          <p:cNvSpPr>
            <a:spLocks noGrp="1"/>
          </p:cNvSpPr>
          <p:nvPr>
            <p:ph type="sldNum" sz="quarter" idx="5"/>
          </p:nvPr>
        </p:nvSpPr>
        <p:spPr/>
        <p:txBody>
          <a:bodyPr/>
          <a:lstStyle/>
          <a:p>
            <a:fld id="{FFFA8F23-8335-47E5-B4BA-B885F7FCAFB2}" type="slidenum">
              <a:t>7</a:t>
            </a:fld>
            <a:endParaRPr lang="en-US"/>
          </a:p>
        </p:txBody>
      </p:sp>
    </p:spTree>
    <p:extLst>
      <p:ext uri="{BB962C8B-B14F-4D97-AF65-F5344CB8AC3E}">
        <p14:creationId xmlns:p14="http://schemas.microsoft.com/office/powerpoint/2010/main" val="377238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85764-F632-8925-BCE8-33803C63C0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0A10E-0EE0-87E1-D4EC-647EF2643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7E2F1A-EE8C-7F0B-353C-7A8499D5628B}"/>
              </a:ext>
            </a:extLst>
          </p:cNvPr>
          <p:cNvSpPr>
            <a:spLocks noGrp="1"/>
          </p:cNvSpPr>
          <p:nvPr>
            <p:ph type="body" idx="1"/>
          </p:nvPr>
        </p:nvSpPr>
        <p:spPr/>
        <p:txBody>
          <a:bodyPr/>
          <a:lstStyle/>
          <a:p>
            <a:r>
              <a:rPr lang="en-US" dirty="0">
                <a:ea typeface="Calibri"/>
                <a:cs typeface="Calibri"/>
              </a:rPr>
              <a:t>Let's start with the methodology of the system. First and </a:t>
            </a:r>
            <a:r>
              <a:rPr lang="en-US" dirty="0" err="1">
                <a:ea typeface="Calibri"/>
                <a:cs typeface="Calibri"/>
              </a:rPr>
              <a:t>foremeost</a:t>
            </a:r>
            <a:r>
              <a:rPr lang="en-US" dirty="0">
                <a:ea typeface="Calibri"/>
                <a:cs typeface="Calibri"/>
              </a:rPr>
              <a:t>, we have the claim extraction. When the user asks a question, LLM generates a response. </a:t>
            </a:r>
            <a:r>
              <a:rPr lang="en-US" dirty="0" err="1">
                <a:ea typeface="Calibri"/>
                <a:cs typeface="Calibri"/>
              </a:rPr>
              <a:t>RealityCheck</a:t>
            </a:r>
            <a:r>
              <a:rPr lang="en-US" dirty="0">
                <a:ea typeface="Calibri"/>
                <a:cs typeface="Calibri"/>
              </a:rPr>
              <a:t> takes the response and breaks it down to extract the claims by the LLMs. Each </a:t>
            </a:r>
            <a:r>
              <a:rPr lang="en-US" dirty="0" err="1">
                <a:ea typeface="Calibri"/>
                <a:cs typeface="Calibri"/>
              </a:rPr>
              <a:t>senten</a:t>
            </a:r>
            <a:r>
              <a:rPr lang="en-US" dirty="0">
                <a:ea typeface="Calibri"/>
                <a:cs typeface="Calibri"/>
              </a:rPr>
              <a:t>ce gets checked for checkability by identifying the names, year, factual data signs like percentages, language use from NLP etc. </a:t>
            </a:r>
          </a:p>
          <a:p>
            <a:r>
              <a:rPr lang="en-US" dirty="0">
                <a:ea typeface="Calibri"/>
                <a:cs typeface="Calibri"/>
              </a:rPr>
              <a:t>The subjective sentences that vary from person to person are marked as </a:t>
            </a:r>
            <a:r>
              <a:rPr lang="en-US" dirty="0" err="1">
                <a:ea typeface="Calibri"/>
                <a:cs typeface="Calibri"/>
              </a:rPr>
              <a:t>non checkable</a:t>
            </a:r>
            <a:r>
              <a:rPr lang="en-US" dirty="0">
                <a:ea typeface="Calibri"/>
                <a:cs typeface="Calibri"/>
              </a:rPr>
              <a:t> and skipped entirely. </a:t>
            </a:r>
          </a:p>
        </p:txBody>
      </p:sp>
      <p:sp>
        <p:nvSpPr>
          <p:cNvPr id="4" name="Slide Number Placeholder 3">
            <a:extLst>
              <a:ext uri="{FF2B5EF4-FFF2-40B4-BE49-F238E27FC236}">
                <a16:creationId xmlns:a16="http://schemas.microsoft.com/office/drawing/2014/main" id="{C355BF1B-AF6E-0657-6883-E3EA33D5FA9C}"/>
              </a:ext>
            </a:extLst>
          </p:cNvPr>
          <p:cNvSpPr>
            <a:spLocks noGrp="1"/>
          </p:cNvSpPr>
          <p:nvPr>
            <p:ph type="sldNum" sz="quarter" idx="5"/>
          </p:nvPr>
        </p:nvSpPr>
        <p:spPr/>
        <p:txBody>
          <a:bodyPr/>
          <a:lstStyle/>
          <a:p>
            <a:fld id="{FFFA8F23-8335-47E5-B4BA-B885F7FCAFB2}" type="slidenum">
              <a:t>8</a:t>
            </a:fld>
            <a:endParaRPr lang="en-US"/>
          </a:p>
        </p:txBody>
      </p:sp>
    </p:spTree>
    <p:extLst>
      <p:ext uri="{BB962C8B-B14F-4D97-AF65-F5344CB8AC3E}">
        <p14:creationId xmlns:p14="http://schemas.microsoft.com/office/powerpoint/2010/main" val="520649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C8F4B-F505-2A43-7174-760A4E6AC0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2381F-02F8-C555-6E0B-B49EDEC3F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01C705-44C4-C617-1CC9-39FCD88393ED}"/>
              </a:ext>
            </a:extLst>
          </p:cNvPr>
          <p:cNvSpPr>
            <a:spLocks noGrp="1"/>
          </p:cNvSpPr>
          <p:nvPr>
            <p:ph type="body" idx="1"/>
          </p:nvPr>
        </p:nvSpPr>
        <p:spPr/>
        <p:txBody>
          <a:bodyPr/>
          <a:lstStyle/>
          <a:p>
            <a:r>
              <a:rPr lang="en-US" dirty="0">
                <a:ea typeface="Calibri"/>
                <a:cs typeface="Calibri"/>
              </a:rPr>
              <a:t>After the claims are extracted, we do an evidence retri</a:t>
            </a:r>
            <a:r>
              <a:rPr lang="en-US" dirty="0">
                <a:solidFill>
                  <a:srgbClr val="000000"/>
                </a:solidFill>
                <a:latin typeface="Calibri"/>
                <a:ea typeface="Calibri"/>
                <a:cs typeface="Calibri"/>
              </a:rPr>
              <a:t>eval from the trustwort</a:t>
            </a:r>
            <a:r>
              <a:rPr lang="en-US" dirty="0">
                <a:ea typeface="Calibri"/>
                <a:cs typeface="Calibri"/>
              </a:rPr>
              <a:t>hy</a:t>
            </a:r>
            <a:r>
              <a:rPr lang="en-US" dirty="0">
                <a:solidFill>
                  <a:srgbClr val="000000"/>
                </a:solidFill>
                <a:latin typeface="Calibri"/>
                <a:ea typeface="Calibri"/>
                <a:cs typeface="Calibri"/>
              </a:rPr>
              <a:t> source. All the results that are about to be shown were created keeping the Wikipedia as the database, the source of truth. During a </a:t>
            </a:r>
            <a:r>
              <a:rPr lang="en-US" dirty="0" err="1">
                <a:solidFill>
                  <a:srgbClr val="000000"/>
                </a:solidFill>
                <a:latin typeface="Calibri"/>
                <a:ea typeface="Calibri"/>
                <a:cs typeface="Calibri"/>
              </a:rPr>
              <a:t>real world</a:t>
            </a:r>
            <a:r>
              <a:rPr lang="en-US" dirty="0">
                <a:solidFill>
                  <a:srgbClr val="000000"/>
                </a:solidFill>
                <a:latin typeface="Calibri"/>
                <a:ea typeface="Calibri"/>
                <a:cs typeface="Calibri"/>
              </a:rPr>
              <a:t> deployment, we can add or change the knowledge bank to the deplo</a:t>
            </a:r>
            <a:r>
              <a:rPr lang="en-US" dirty="0">
                <a:ea typeface="Calibri"/>
                <a:cs typeface="Calibri"/>
              </a:rPr>
              <a:t>yment's requirements. </a:t>
            </a:r>
          </a:p>
          <a:p>
            <a:r>
              <a:rPr lang="en-US" dirty="0">
                <a:ea typeface="Calibri"/>
                <a:cs typeface="Calibri"/>
              </a:rPr>
              <a:t>We use a </a:t>
            </a:r>
            <a:r>
              <a:rPr lang="en-US" dirty="0" err="1">
                <a:ea typeface="Calibri"/>
                <a:cs typeface="Calibri"/>
              </a:rPr>
              <a:t>3 layer</a:t>
            </a:r>
            <a:r>
              <a:rPr lang="en-US" dirty="0">
                <a:ea typeface="Calibri"/>
                <a:cs typeface="Calibri"/>
              </a:rPr>
              <a:t> strategy. </a:t>
            </a:r>
            <a:r>
              <a:rPr lang="en-US" dirty="0" err="1">
                <a:ea typeface="Calibri"/>
                <a:cs typeface="Calibri"/>
              </a:rPr>
              <a:t>RealityCheck</a:t>
            </a:r>
            <a:r>
              <a:rPr lang="en-US" dirty="0">
                <a:ea typeface="Calibri"/>
                <a:cs typeface="Calibri"/>
              </a:rPr>
              <a:t> maintains a cache database whenever it searches for anything. This saves the cost of Wikipedia API. If the answer is unavailable in the cache, we switch to Wikipedia's </a:t>
            </a:r>
            <a:r>
              <a:rPr lang="en-US" dirty="0" err="1">
                <a:ea typeface="Calibri"/>
                <a:cs typeface="Calibri"/>
              </a:rPr>
              <a:t>MediaWiki</a:t>
            </a:r>
            <a:r>
              <a:rPr lang="en-US" dirty="0">
                <a:ea typeface="Calibri"/>
                <a:cs typeface="Calibri"/>
              </a:rPr>
              <a:t> API and open google search. During the development of the project, </a:t>
            </a:r>
            <a:r>
              <a:rPr lang="en-US" dirty="0" err="1">
                <a:ea typeface="Calibri"/>
                <a:cs typeface="Calibri"/>
              </a:rPr>
              <a:t>TruthfulQA</a:t>
            </a:r>
            <a:r>
              <a:rPr lang="en-US" dirty="0">
                <a:ea typeface="Calibri"/>
                <a:cs typeface="Calibri"/>
              </a:rPr>
              <a:t> dataset had the </a:t>
            </a:r>
            <a:r>
              <a:rPr lang="en-US" dirty="0" err="1">
                <a:ea typeface="Calibri"/>
                <a:cs typeface="Calibri"/>
              </a:rPr>
              <a:t>wikipedia</a:t>
            </a:r>
            <a:r>
              <a:rPr lang="en-US" dirty="0">
                <a:ea typeface="Calibri"/>
                <a:cs typeface="Calibri"/>
              </a:rPr>
              <a:t> pages for all the questions, so we added them and increased the trust weightage on them. </a:t>
            </a:r>
          </a:p>
          <a:p>
            <a:endParaRPr lang="en-US" dirty="0">
              <a:ea typeface="Calibri"/>
              <a:cs typeface="Calibri"/>
            </a:endParaRPr>
          </a:p>
          <a:p>
            <a:r>
              <a:rPr lang="en-US" dirty="0">
                <a:ea typeface="Calibri"/>
                <a:cs typeface="Calibri"/>
              </a:rPr>
              <a:t>After the </a:t>
            </a:r>
            <a:r>
              <a:rPr lang="en-US" dirty="0" err="1">
                <a:ea typeface="Calibri"/>
                <a:cs typeface="Calibri"/>
              </a:rPr>
              <a:t>wikipedia</a:t>
            </a:r>
            <a:r>
              <a:rPr lang="en-US" dirty="0">
                <a:ea typeface="Calibri"/>
                <a:cs typeface="Calibri"/>
              </a:rPr>
              <a:t> API delivers the result, we chunk the pages on the basis of the information they are giving. Then, the chunks' information is ranked by semantic similarity to the original user question and top k chunks are kept. Rest of them get added to the cache bank. </a:t>
            </a:r>
          </a:p>
        </p:txBody>
      </p:sp>
      <p:sp>
        <p:nvSpPr>
          <p:cNvPr id="4" name="Slide Number Placeholder 3">
            <a:extLst>
              <a:ext uri="{FF2B5EF4-FFF2-40B4-BE49-F238E27FC236}">
                <a16:creationId xmlns:a16="http://schemas.microsoft.com/office/drawing/2014/main" id="{59617A39-6C72-F41E-B571-1A50B2E990FD}"/>
              </a:ext>
            </a:extLst>
          </p:cNvPr>
          <p:cNvSpPr>
            <a:spLocks noGrp="1"/>
          </p:cNvSpPr>
          <p:nvPr>
            <p:ph type="sldNum" sz="quarter" idx="5"/>
          </p:nvPr>
        </p:nvSpPr>
        <p:spPr/>
        <p:txBody>
          <a:bodyPr/>
          <a:lstStyle/>
          <a:p>
            <a:fld id="{FFFA8F23-8335-47E5-B4BA-B885F7FCAFB2}" type="slidenum">
              <a:t>9</a:t>
            </a:fld>
            <a:endParaRPr lang="en-US"/>
          </a:p>
        </p:txBody>
      </p:sp>
    </p:spTree>
    <p:extLst>
      <p:ext uri="{BB962C8B-B14F-4D97-AF65-F5344CB8AC3E}">
        <p14:creationId xmlns:p14="http://schemas.microsoft.com/office/powerpoint/2010/main" val="3354777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C1B3E-08BD-326D-F65B-8F13A885D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76524-334B-26D1-3B80-AC732BB8F4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967A56-7EEF-69B9-0B48-F16388809041}"/>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DC1FB4E5-CA42-78B7-DAF4-E3B1455C87BF}"/>
              </a:ext>
            </a:extLst>
          </p:cNvPr>
          <p:cNvSpPr>
            <a:spLocks noGrp="1"/>
          </p:cNvSpPr>
          <p:nvPr>
            <p:ph type="sldNum" sz="quarter" idx="5"/>
          </p:nvPr>
        </p:nvSpPr>
        <p:spPr/>
        <p:txBody>
          <a:bodyPr/>
          <a:lstStyle/>
          <a:p>
            <a:fld id="{FFFA8F23-8335-47E5-B4BA-B885F7FCAFB2}" type="slidenum">
              <a:t>10</a:t>
            </a:fld>
            <a:endParaRPr lang="en-US"/>
          </a:p>
        </p:txBody>
      </p:sp>
    </p:spTree>
    <p:extLst>
      <p:ext uri="{BB962C8B-B14F-4D97-AF65-F5344CB8AC3E}">
        <p14:creationId xmlns:p14="http://schemas.microsoft.com/office/powerpoint/2010/main" val="2887097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F4162-75CC-19C6-C3B4-D8320BD96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A46FA2-761F-6621-7FC9-FE4EEC1C87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17B56E-516D-36DE-DC75-F5F634F664BE}"/>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A736D302-4F7D-799D-6504-015B2F975167}"/>
              </a:ext>
            </a:extLst>
          </p:cNvPr>
          <p:cNvSpPr>
            <a:spLocks noGrp="1"/>
          </p:cNvSpPr>
          <p:nvPr>
            <p:ph type="sldNum" sz="quarter" idx="5"/>
          </p:nvPr>
        </p:nvSpPr>
        <p:spPr/>
        <p:txBody>
          <a:bodyPr/>
          <a:lstStyle/>
          <a:p>
            <a:fld id="{FFFA8F23-8335-47E5-B4BA-B885F7FCAFB2}" type="slidenum">
              <a:t>11</a:t>
            </a:fld>
            <a:endParaRPr lang="en-US"/>
          </a:p>
        </p:txBody>
      </p:sp>
    </p:spTree>
    <p:extLst>
      <p:ext uri="{BB962C8B-B14F-4D97-AF65-F5344CB8AC3E}">
        <p14:creationId xmlns:p14="http://schemas.microsoft.com/office/powerpoint/2010/main" val="7966898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62887-7DCA-6832-DABC-16182DFDE9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CE78A-DB60-DAEE-AD9F-D6D79FB00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9ED3F4-0A83-5426-2259-F75E59C1597C}"/>
              </a:ext>
            </a:extLst>
          </p:cNvPr>
          <p:cNvSpPr>
            <a:spLocks noGrp="1"/>
          </p:cNvSpPr>
          <p:nvPr>
            <p:ph type="body" idx="1"/>
          </p:nvPr>
        </p:nvSpPr>
        <p:spPr/>
        <p:txBody>
          <a:bodyPr/>
          <a:lstStyle/>
          <a:p>
            <a:r>
              <a:rPr lang="en-US" dirty="0">
                <a:ea typeface="Calibri"/>
                <a:cs typeface="Calibri"/>
              </a:rPr>
              <a:t>Once the decisions have been made and the system knows the correct answer and factual correctness, the next important step is to rewrite the model in a way that it looks as compelling and attention grabbing as the original answer. The supported claims are kept as they are, contradicted are repaired using best evidences from the Wikipedia search, insufficient evidences are removed and </a:t>
            </a:r>
            <a:r>
              <a:rPr lang="en-US" dirty="0" err="1">
                <a:ea typeface="Calibri"/>
                <a:cs typeface="Calibri"/>
              </a:rPr>
              <a:t>non checkable</a:t>
            </a:r>
            <a:r>
              <a:rPr lang="en-US" dirty="0">
                <a:ea typeface="Calibri"/>
                <a:cs typeface="Calibri"/>
              </a:rPr>
              <a:t> pass through as it is. </a:t>
            </a:r>
          </a:p>
        </p:txBody>
      </p:sp>
      <p:sp>
        <p:nvSpPr>
          <p:cNvPr id="4" name="Slide Number Placeholder 3">
            <a:extLst>
              <a:ext uri="{FF2B5EF4-FFF2-40B4-BE49-F238E27FC236}">
                <a16:creationId xmlns:a16="http://schemas.microsoft.com/office/drawing/2014/main" id="{4934DE65-140B-F056-678D-C32ACBCDF048}"/>
              </a:ext>
            </a:extLst>
          </p:cNvPr>
          <p:cNvSpPr>
            <a:spLocks noGrp="1"/>
          </p:cNvSpPr>
          <p:nvPr>
            <p:ph type="sldNum" sz="quarter" idx="5"/>
          </p:nvPr>
        </p:nvSpPr>
        <p:spPr/>
        <p:txBody>
          <a:bodyPr/>
          <a:lstStyle/>
          <a:p>
            <a:fld id="{FFFA8F23-8335-47E5-B4BA-B885F7FCAFB2}" type="slidenum">
              <a:t>12</a:t>
            </a:fld>
            <a:endParaRPr lang="en-US"/>
          </a:p>
        </p:txBody>
      </p:sp>
    </p:spTree>
    <p:extLst>
      <p:ext uri="{BB962C8B-B14F-4D97-AF65-F5344CB8AC3E}">
        <p14:creationId xmlns:p14="http://schemas.microsoft.com/office/powerpoint/2010/main" val="20117539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E1980-067A-E500-D414-418FB0012D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C8BCC7-6968-D4D8-8F22-10D39BA801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41914D-584F-C06E-3644-FA6B889785DC}"/>
              </a:ext>
            </a:extLst>
          </p:cNvPr>
          <p:cNvSpPr>
            <a:spLocks noGrp="1"/>
          </p:cNvSpPr>
          <p:nvPr>
            <p:ph type="body" idx="1"/>
          </p:nvPr>
        </p:nvSpPr>
        <p:spPr/>
        <p:txBody>
          <a:bodyPr/>
          <a:lstStyle/>
          <a:p>
            <a:r>
              <a:rPr lang="en-US" dirty="0">
                <a:ea typeface="Calibri"/>
                <a:cs typeface="Calibri"/>
              </a:rPr>
              <a:t>We tested the system against three models, IBM's Granite, Meta Llama and </a:t>
            </a:r>
            <a:r>
              <a:rPr lang="en-US" dirty="0" err="1">
                <a:ea typeface="Calibri"/>
                <a:cs typeface="Calibri"/>
              </a:rPr>
              <a:t>MistralAI's</a:t>
            </a:r>
            <a:r>
              <a:rPr lang="en-US" dirty="0">
                <a:ea typeface="Calibri"/>
                <a:cs typeface="Calibri"/>
              </a:rPr>
              <a:t> Mistral. We keep the same system prompt, the same set of </a:t>
            </a:r>
            <a:r>
              <a:rPr lang="en-US" dirty="0" err="1">
                <a:ea typeface="Calibri"/>
                <a:cs typeface="Calibri"/>
              </a:rPr>
              <a:t>contraints</a:t>
            </a:r>
            <a:r>
              <a:rPr lang="en-US" dirty="0">
                <a:ea typeface="Calibri"/>
                <a:cs typeface="Calibri"/>
              </a:rPr>
              <a:t> and </a:t>
            </a:r>
            <a:r>
              <a:rPr lang="en-US" dirty="0" err="1">
                <a:ea typeface="Calibri"/>
                <a:cs typeface="Calibri"/>
              </a:rPr>
              <a:t>sme</a:t>
            </a:r>
            <a:r>
              <a:rPr lang="en-US" dirty="0">
                <a:ea typeface="Calibri"/>
                <a:cs typeface="Calibri"/>
              </a:rPr>
              <a:t> question set with the target that the </a:t>
            </a:r>
            <a:r>
              <a:rPr lang="en-US" dirty="0" err="1">
                <a:ea typeface="Calibri"/>
                <a:cs typeface="Calibri"/>
              </a:rPr>
              <a:t>differen</a:t>
            </a:r>
            <a:r>
              <a:rPr lang="en-US" dirty="0">
                <a:ea typeface="Calibri"/>
                <a:cs typeface="Calibri"/>
              </a:rPr>
              <a:t>ce in answers should show model's weaknesses and </a:t>
            </a:r>
            <a:r>
              <a:rPr lang="en-US" dirty="0" err="1">
                <a:ea typeface="Calibri"/>
                <a:cs typeface="Calibri"/>
              </a:rPr>
              <a:t>behaviours</a:t>
            </a:r>
            <a:r>
              <a:rPr lang="en-US" dirty="0">
                <a:ea typeface="Calibri"/>
                <a:cs typeface="Calibri"/>
              </a:rPr>
              <a:t> without giving any bias to either of the models. </a:t>
            </a:r>
          </a:p>
        </p:txBody>
      </p:sp>
      <p:sp>
        <p:nvSpPr>
          <p:cNvPr id="4" name="Slide Number Placeholder 3">
            <a:extLst>
              <a:ext uri="{FF2B5EF4-FFF2-40B4-BE49-F238E27FC236}">
                <a16:creationId xmlns:a16="http://schemas.microsoft.com/office/drawing/2014/main" id="{0058D013-564A-BFA7-85DB-5CF8D2E7942D}"/>
              </a:ext>
            </a:extLst>
          </p:cNvPr>
          <p:cNvSpPr>
            <a:spLocks noGrp="1"/>
          </p:cNvSpPr>
          <p:nvPr>
            <p:ph type="sldNum" sz="quarter" idx="5"/>
          </p:nvPr>
        </p:nvSpPr>
        <p:spPr/>
        <p:txBody>
          <a:bodyPr/>
          <a:lstStyle/>
          <a:p>
            <a:fld id="{FFFA8F23-8335-47E5-B4BA-B885F7FCAFB2}" type="slidenum">
              <a:t>13</a:t>
            </a:fld>
            <a:endParaRPr lang="en-US"/>
          </a:p>
        </p:txBody>
      </p:sp>
    </p:spTree>
    <p:extLst>
      <p:ext uri="{BB962C8B-B14F-4D97-AF65-F5344CB8AC3E}">
        <p14:creationId xmlns:p14="http://schemas.microsoft.com/office/powerpoint/2010/main" val="6848635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C4825-9717-4A0F-F79C-0DCDB6780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C2E7F-6282-07C9-EB10-318BBB601C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BEF83C-DC0A-F719-BDC6-EC32DC46F915}"/>
              </a:ext>
            </a:extLst>
          </p:cNvPr>
          <p:cNvSpPr>
            <a:spLocks noGrp="1"/>
          </p:cNvSpPr>
          <p:nvPr>
            <p:ph type="body" idx="1"/>
          </p:nvPr>
        </p:nvSpPr>
        <p:spPr/>
        <p:txBody>
          <a:bodyPr/>
          <a:lstStyle/>
          <a:p>
            <a:r>
              <a:rPr lang="en-US" dirty="0">
                <a:ea typeface="Calibri"/>
                <a:cs typeface="Calibri"/>
              </a:rPr>
              <a:t>These are the results we achieved after doing a repetitive trial across all three models by the same set of questions. As you can see, across all three models, the accuracy and halluci</a:t>
            </a:r>
            <a:r>
              <a:rPr lang="en-US" dirty="0"/>
              <a:t>nation recall has succ</a:t>
            </a:r>
            <a:r>
              <a:rPr lang="en-US" dirty="0">
                <a:ea typeface="Calibri"/>
                <a:cs typeface="Calibri"/>
              </a:rPr>
              <a:t>essfully increased by at least 15 perce</a:t>
            </a:r>
            <a:r>
              <a:rPr lang="en-US">
                <a:ea typeface="Calibri"/>
                <a:cs typeface="Calibri"/>
              </a:rPr>
              <a:t>ntage points each. </a:t>
            </a:r>
            <a:endParaRPr lang="en-US"/>
          </a:p>
        </p:txBody>
      </p:sp>
      <p:sp>
        <p:nvSpPr>
          <p:cNvPr id="4" name="Slide Number Placeholder 3">
            <a:extLst>
              <a:ext uri="{FF2B5EF4-FFF2-40B4-BE49-F238E27FC236}">
                <a16:creationId xmlns:a16="http://schemas.microsoft.com/office/drawing/2014/main" id="{4E9EA27E-EBAB-18ED-EC90-E7F0459BA5E6}"/>
              </a:ext>
            </a:extLst>
          </p:cNvPr>
          <p:cNvSpPr>
            <a:spLocks noGrp="1"/>
          </p:cNvSpPr>
          <p:nvPr>
            <p:ph type="sldNum" sz="quarter" idx="5"/>
          </p:nvPr>
        </p:nvSpPr>
        <p:spPr/>
        <p:txBody>
          <a:bodyPr/>
          <a:lstStyle/>
          <a:p>
            <a:fld id="{FFFA8F23-8335-47E5-B4BA-B885F7FCAFB2}" type="slidenum">
              <a:t>14</a:t>
            </a:fld>
            <a:endParaRPr lang="en-US"/>
          </a:p>
        </p:txBody>
      </p:sp>
    </p:spTree>
    <p:extLst>
      <p:ext uri="{BB962C8B-B14F-4D97-AF65-F5344CB8AC3E}">
        <p14:creationId xmlns:p14="http://schemas.microsoft.com/office/powerpoint/2010/main" val="42312917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6210B-FE0C-2990-36B5-C8614410F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A1D2D-56F4-2F0B-8380-DA09BE7EA3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82D158-115E-875C-EAC6-BD3287F17310}"/>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64B634CB-2025-3CDF-4B59-89B8EA9E4453}"/>
              </a:ext>
            </a:extLst>
          </p:cNvPr>
          <p:cNvSpPr>
            <a:spLocks noGrp="1"/>
          </p:cNvSpPr>
          <p:nvPr>
            <p:ph type="sldNum" sz="quarter" idx="5"/>
          </p:nvPr>
        </p:nvSpPr>
        <p:spPr/>
        <p:txBody>
          <a:bodyPr/>
          <a:lstStyle/>
          <a:p>
            <a:fld id="{FFFA8F23-8335-47E5-B4BA-B885F7FCAFB2}" type="slidenum">
              <a:t>15</a:t>
            </a:fld>
            <a:endParaRPr lang="en-US"/>
          </a:p>
        </p:txBody>
      </p:sp>
    </p:spTree>
    <p:extLst>
      <p:ext uri="{BB962C8B-B14F-4D97-AF65-F5344CB8AC3E}">
        <p14:creationId xmlns:p14="http://schemas.microsoft.com/office/powerpoint/2010/main" val="42052065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CAD35-A011-CB4E-9770-C8F68D29D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FFEB8C-9A45-C0A2-7F60-ECE7439D59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EBF691-833C-C774-6389-7649189F707D}"/>
              </a:ext>
            </a:extLst>
          </p:cNvPr>
          <p:cNvSpPr>
            <a:spLocks noGrp="1"/>
          </p:cNvSpPr>
          <p:nvPr>
            <p:ph type="body" idx="1"/>
          </p:nvPr>
        </p:nvSpPr>
        <p:spPr/>
        <p:txBody>
          <a:bodyPr/>
          <a:lstStyle/>
          <a:p>
            <a:r>
              <a:rPr lang="en-US" dirty="0">
                <a:ea typeface="Calibri"/>
                <a:cs typeface="Calibri"/>
              </a:rPr>
              <a:t>We have identified some limitations when our model fails to perform any </a:t>
            </a:r>
            <a:r>
              <a:rPr lang="en-US">
                <a:ea typeface="Calibri"/>
                <a:cs typeface="Calibri"/>
              </a:rPr>
              <a:t>meaningful upgrade to the answer. </a:t>
            </a:r>
          </a:p>
          <a:p>
            <a:r>
              <a:rPr lang="en-US" dirty="0">
                <a:ea typeface="Calibri"/>
                <a:cs typeface="Calibri"/>
              </a:rPr>
              <a:t>When the question comes from a niche or not a widely known topic, there is very limited information available about it. When the knowledge source itself is not big enough, all the </a:t>
            </a:r>
            <a:r>
              <a:rPr lang="en-US" err="1">
                <a:ea typeface="Calibri"/>
                <a:cs typeface="Calibri"/>
              </a:rPr>
              <a:t>subseque</a:t>
            </a:r>
            <a:r>
              <a:rPr lang="en-US" dirty="0">
                <a:ea typeface="Calibri"/>
                <a:cs typeface="Calibri"/>
              </a:rPr>
              <a:t>nt topics have lesser data to work on. As a future scope, we plan to decrease the dependence on Wikipedia as our sole knowle</a:t>
            </a:r>
            <a:r>
              <a:rPr lang="en-US">
                <a:ea typeface="Calibri"/>
                <a:cs typeface="Calibri"/>
              </a:rPr>
              <a:t>dge base. </a:t>
            </a:r>
          </a:p>
          <a:p>
            <a:r>
              <a:rPr lang="en-US" dirty="0">
                <a:ea typeface="Calibri"/>
                <a:cs typeface="Calibri"/>
              </a:rPr>
              <a:t>Multi hop reasoning : When a group of individual sources collect up and form a chain of reasoning, the system isn't able to connect those dots together and form a reason. That can definitely be a natural extension of the current project. </a:t>
            </a:r>
          </a:p>
          <a:p>
            <a:r>
              <a:rPr lang="en-US" dirty="0">
                <a:ea typeface="Calibri"/>
                <a:cs typeface="Calibri"/>
              </a:rPr>
              <a:t>Borderline subjective questions : When the person's question mixes the actual </a:t>
            </a:r>
            <a:r>
              <a:rPr lang="en-US" dirty="0" err="1">
                <a:ea typeface="Calibri"/>
                <a:cs typeface="Calibri"/>
              </a:rPr>
              <a:t>real world</a:t>
            </a:r>
            <a:r>
              <a:rPr lang="en-US" dirty="0">
                <a:ea typeface="Calibri"/>
                <a:cs typeface="Calibri"/>
              </a:rPr>
              <a:t> phenomenon with something specific to them, the system sometimes creates false contradictions because a large chunk of the LLMs response might be coming from the user's perspective and the framing of the question. </a:t>
            </a:r>
          </a:p>
          <a:p>
            <a:endParaRPr lang="en-US" dirty="0">
              <a:ea typeface="Calibri"/>
              <a:cs typeface="Calibri"/>
            </a:endParaRPr>
          </a:p>
        </p:txBody>
      </p:sp>
      <p:sp>
        <p:nvSpPr>
          <p:cNvPr id="4" name="Slide Number Placeholder 3">
            <a:extLst>
              <a:ext uri="{FF2B5EF4-FFF2-40B4-BE49-F238E27FC236}">
                <a16:creationId xmlns:a16="http://schemas.microsoft.com/office/drawing/2014/main" id="{C6514509-B95B-0847-1AFC-2410C304D22B}"/>
              </a:ext>
            </a:extLst>
          </p:cNvPr>
          <p:cNvSpPr>
            <a:spLocks noGrp="1"/>
          </p:cNvSpPr>
          <p:nvPr>
            <p:ph type="sldNum" sz="quarter" idx="5"/>
          </p:nvPr>
        </p:nvSpPr>
        <p:spPr/>
        <p:txBody>
          <a:bodyPr/>
          <a:lstStyle/>
          <a:p>
            <a:fld id="{FFFA8F23-8335-47E5-B4BA-B885F7FCAFB2}" type="slidenum">
              <a:t>16</a:t>
            </a:fld>
            <a:endParaRPr lang="en-US"/>
          </a:p>
        </p:txBody>
      </p:sp>
    </p:spTree>
    <p:extLst>
      <p:ext uri="{BB962C8B-B14F-4D97-AF65-F5344CB8AC3E}">
        <p14:creationId xmlns:p14="http://schemas.microsoft.com/office/powerpoint/2010/main" val="33294057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3B95E-9155-1436-8DE5-A6BE726CAF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B5530E-C499-A09B-C639-C12812A289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A4BD25-F370-5EDF-2100-C34CDC125DAA}"/>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9A18821E-D1D5-3B7C-9333-9946E797516B}"/>
              </a:ext>
            </a:extLst>
          </p:cNvPr>
          <p:cNvSpPr>
            <a:spLocks noGrp="1"/>
          </p:cNvSpPr>
          <p:nvPr>
            <p:ph type="sldNum" sz="quarter" idx="5"/>
          </p:nvPr>
        </p:nvSpPr>
        <p:spPr/>
        <p:txBody>
          <a:bodyPr/>
          <a:lstStyle/>
          <a:p>
            <a:fld id="{FFFA8F23-8335-47E5-B4BA-B885F7FCAFB2}" type="slidenum">
              <a:t>17</a:t>
            </a:fld>
            <a:endParaRPr lang="en-US"/>
          </a:p>
        </p:txBody>
      </p:sp>
    </p:spTree>
    <p:extLst>
      <p:ext uri="{BB962C8B-B14F-4D97-AF65-F5344CB8AC3E}">
        <p14:creationId xmlns:p14="http://schemas.microsoft.com/office/powerpoint/2010/main" val="4187565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7/23/2026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visheshverse.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visheshverse.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0.png"/><Relationship Id="rId5" Type="http://schemas.microsoft.com/office/2011/relationships/webextension" Target="../webextensions/webextension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visheshverse.com/"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visheshverse.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visheshverse.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visheshverse.com/"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visheshverse.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visheshverse.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hyperlink" Target="https://visheshverse.co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visheshverse.com/"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visheshverse.co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visheshverse.co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visheshverse.com/"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visheshverse.com/"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visheshverse.com/"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hyperlink" Target="https://visheshverse.com/"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visheshverse.com/"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90310"/>
            <a:ext cx="7362567" cy="2681072"/>
          </a:xfrm>
        </p:spPr>
        <p:txBody>
          <a:bodyPr vert="horz" lIns="91440" tIns="45720" rIns="91440" bIns="45720" rtlCol="0" anchor="b">
            <a:noAutofit/>
          </a:bodyPr>
          <a:lstStyle/>
          <a:p>
            <a:r>
              <a:rPr lang="en-US" sz="5000" dirty="0" err="1">
                <a:latin typeface="Times New Roman"/>
                <a:cs typeface="Times New Roman"/>
              </a:rPr>
              <a:t>RealityCheck</a:t>
            </a:r>
            <a:r>
              <a:rPr lang="en-US" sz="5000" dirty="0">
                <a:latin typeface="Times New Roman"/>
                <a:cs typeface="Times New Roman"/>
              </a:rPr>
              <a:t> : An Evidence-Grounded Hallucination Correction Pipeline for LLMs</a:t>
            </a:r>
          </a:p>
        </p:txBody>
      </p:sp>
      <p:sp>
        <p:nvSpPr>
          <p:cNvPr id="5" name="TextBox 4">
            <a:extLst>
              <a:ext uri="{FF2B5EF4-FFF2-40B4-BE49-F238E27FC236}">
                <a16:creationId xmlns:a16="http://schemas.microsoft.com/office/drawing/2014/main" id="{B2958A8F-4818-0294-3FF6-0470F1470513}"/>
              </a:ext>
            </a:extLst>
          </p:cNvPr>
          <p:cNvSpPr txBox="1"/>
          <p:nvPr/>
        </p:nvSpPr>
        <p:spPr>
          <a:xfrm>
            <a:off x="485715" y="5253364"/>
            <a:ext cx="5029425"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Times New Roman"/>
                <a:cs typeface="Times New Roman"/>
              </a:rPr>
              <a:t>By Vishesh Goyal</a:t>
            </a:r>
            <a:endParaRPr lang="en-US" sz="2800" dirty="0">
              <a:latin typeface="Times New Roman"/>
              <a:cs typeface="Times New Roman"/>
            </a:endParaRPr>
          </a:p>
          <a:p>
            <a:r>
              <a:rPr lang="en-US" sz="2800" dirty="0">
                <a:latin typeface="Times New Roman"/>
                <a:cs typeface="Times New Roman"/>
              </a:rPr>
              <a:t>In the guida</a:t>
            </a:r>
            <a:r>
              <a:rPr lang="en-US" sz="2800">
                <a:latin typeface="Times New Roman"/>
                <a:cs typeface="Times New Roman"/>
              </a:rPr>
              <a:t>nce of Dr. Jayita Saha</a:t>
            </a:r>
            <a:endParaRPr lang="en-US" sz="2800" dirty="0">
              <a:latin typeface="Times New Roman"/>
              <a:cs typeface="Times New Roman"/>
            </a:endParaRPr>
          </a:p>
          <a:p>
            <a:r>
              <a:rPr lang="en-US" sz="2800" dirty="0">
                <a:latin typeface="Times New Roman"/>
                <a:cs typeface="Times New Roman"/>
                <a:hlinkClick r:id="rId3"/>
              </a:rPr>
              <a:t>VisheshVerse</a:t>
            </a:r>
            <a:endParaRPr lang="en-US" sz="2800" dirty="0">
              <a:latin typeface="Times New Roman"/>
              <a:cs typeface="Times New Roman"/>
            </a:endParaRPr>
          </a:p>
        </p:txBody>
      </p:sp>
      <p:pic>
        <p:nvPicPr>
          <p:cNvPr id="6" name="Picture 5">
            <a:extLst>
              <a:ext uri="{FF2B5EF4-FFF2-40B4-BE49-F238E27FC236}">
                <a16:creationId xmlns:a16="http://schemas.microsoft.com/office/drawing/2014/main" id="{CE2B785D-A381-B7E4-7C33-B72A00822E80}"/>
              </a:ext>
            </a:extLst>
          </p:cNvPr>
          <p:cNvPicPr>
            <a:picLocks noChangeAspect="1"/>
          </p:cNvPicPr>
          <p:nvPr/>
        </p:nvPicPr>
        <p:blipFill>
          <a:blip r:embed="rId4"/>
          <a:stretch>
            <a:fillRect/>
          </a:stretch>
        </p:blipFill>
        <p:spPr>
          <a:xfrm>
            <a:off x="6787790" y="902679"/>
            <a:ext cx="5017477" cy="5058507"/>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0006E-CAB3-4E5C-C854-11086E88EFA5}"/>
              </a:ext>
            </a:extLst>
          </p:cNvPr>
          <p:cNvSpPr>
            <a:spLocks noGrp="1"/>
          </p:cNvSpPr>
          <p:nvPr>
            <p:ph type="title"/>
          </p:nvPr>
        </p:nvSpPr>
        <p:spPr/>
        <p:txBody>
          <a:bodyPr/>
          <a:lstStyle/>
          <a:p>
            <a:r>
              <a:rPr lang="en-US">
                <a:latin typeface="Times New Roman"/>
                <a:cs typeface="Times New Roman"/>
              </a:rPr>
              <a:t>Myself Vishesh</a:t>
            </a:r>
          </a:p>
        </p:txBody>
      </p:sp>
      <p:sp>
        <p:nvSpPr>
          <p:cNvPr id="3" name="Content Placeholder 2">
            <a:extLst>
              <a:ext uri="{FF2B5EF4-FFF2-40B4-BE49-F238E27FC236}">
                <a16:creationId xmlns:a16="http://schemas.microsoft.com/office/drawing/2014/main" id="{2F69EF29-3B8F-02ED-F127-239309059386}"/>
              </a:ext>
            </a:extLst>
          </p:cNvPr>
          <p:cNvSpPr>
            <a:spLocks noGrp="1"/>
          </p:cNvSpPr>
          <p:nvPr>
            <p:ph idx="1"/>
          </p:nvPr>
        </p:nvSpPr>
        <p:spPr/>
        <p:txBody>
          <a:bodyPr vert="horz" lIns="91440" tIns="45720" rIns="91440" bIns="45720" rtlCol="0" anchor="t">
            <a:normAutofit/>
          </a:bodyPr>
          <a:lstStyle/>
          <a:p>
            <a:pPr marL="0" indent="0">
              <a:buNone/>
            </a:pPr>
            <a:r>
              <a:rPr lang="en-US">
                <a:latin typeface="Times New Roman"/>
                <a:cs typeface="Times New Roman"/>
              </a:rPr>
              <a:t>Vishesh Goyal – </a:t>
            </a:r>
            <a:r>
              <a:rPr lang="en-US" dirty="0">
                <a:latin typeface="Times New Roman"/>
                <a:cs typeface="Times New Roman"/>
                <a:hlinkClick r:id="rId3"/>
              </a:rPr>
              <a:t>VisheshVerse</a:t>
            </a:r>
          </a:p>
        </p:txBody>
      </p:sp>
      <p:pic>
        <p:nvPicPr>
          <p:cNvPr id="4" name="Picture 3">
            <a:extLst>
              <a:ext uri="{FF2B5EF4-FFF2-40B4-BE49-F238E27FC236}">
                <a16:creationId xmlns:a16="http://schemas.microsoft.com/office/drawing/2014/main" id="{6B19BEB0-3AFC-9498-5C6D-AA1B61A53EB8}"/>
              </a:ext>
            </a:extLst>
          </p:cNvPr>
          <p:cNvPicPr>
            <a:picLocks noChangeAspect="1"/>
          </p:cNvPicPr>
          <p:nvPr/>
        </p:nvPicPr>
        <p:blipFill>
          <a:blip r:embed="rId4"/>
          <a:stretch>
            <a:fillRect/>
          </a:stretch>
        </p:blipFill>
        <p:spPr>
          <a:xfrm>
            <a:off x="5703794" y="0"/>
            <a:ext cx="6858000" cy="6858000"/>
          </a:xfrm>
          <a:prstGeom prst="rect">
            <a:avLst/>
          </a:prstGeom>
        </p:spPr>
      </p:pic>
      <mc:AlternateContent xmlns:mc="http://schemas.openxmlformats.org/markup-compatibility/2006" xmlns:we="http://schemas.microsoft.com/office/webextensions/webextension/2010/11" xmlns:pca="http://schemas.microsoft.com/office/powerpoint/2013/contentapp">
        <mc:Choice Requires="we pca">
          <p:graphicFrame>
            <p:nvGraphicFramePr>
              <p:cNvPr id="6" name="Object 5">
                <a:extLst>
                  <a:ext uri="{FF2B5EF4-FFF2-40B4-BE49-F238E27FC236}">
                    <a16:creationId xmlns:a16="http://schemas.microsoft.com/office/drawing/2014/main" id="{CBBEF580-FB04-177F-B790-9C03D9E6A40A}"/>
                  </a:ext>
                </a:extLst>
              </p:cNvPr>
              <p:cNvGraphicFramePr/>
              <p:nvPr>
                <p:extLst>
                  <p:ext uri="{D42A27DB-BD31-4B8C-83A1-F6EECF244321}">
                    <p14:modId xmlns:p14="http://schemas.microsoft.com/office/powerpoint/2010/main" val="3568826847"/>
                  </p:ext>
                </p:extLst>
              </p:nvPr>
            </p:nvGraphicFramePr>
            <p:xfrm>
              <a:off x="477079" y="2885661"/>
              <a:ext cx="5115339" cy="2849218"/>
            </p:xfrm>
            <a:graphic>
              <a:graphicData uri="http://schemas.microsoft.com/office/webextensions/webextension/2010/11">
                <we:webextensionref xmlns:we="http://schemas.microsoft.com/office/webextensions/webextension/2010/11" xmlns:r="http://schemas.openxmlformats.org/officeDocument/2006/relationships" r:id="rId5"/>
              </a:graphicData>
            </a:graphic>
          </p:graphicFrame>
        </mc:Choice>
        <mc:Fallback xmlns="">
          <p:pic>
            <p:nvPicPr>
              <p:cNvPr id="6" name="Object 5">
                <a:extLst>
                  <a:ext uri="{FF2B5EF4-FFF2-40B4-BE49-F238E27FC236}">
                    <a16:creationId xmlns:a16="http://schemas.microsoft.com/office/drawing/2014/main" id="{CBBEF580-FB04-177F-B790-9C03D9E6A40A}"/>
                  </a:ext>
                </a:extLst>
              </p:cNvPr>
              <p:cNvPicPr>
                <a:picLocks noGrp="1" noRot="1" noChangeAspect="1" noMove="1" noResize="1" noEditPoints="1" noAdjustHandles="1" noChangeArrowheads="1" noChangeShapeType="1"/>
              </p:cNvPicPr>
              <p:nvPr/>
            </p:nvPicPr>
            <p:blipFill>
              <a:blip r:embed="rId6"/>
              <a:stretch>
                <a:fillRect/>
              </a:stretch>
            </p:blipFill>
            <p:spPr>
              <a:xfrm>
                <a:off x="477079" y="2885661"/>
                <a:ext cx="5115339" cy="2849218"/>
              </a:xfrm>
              <a:prstGeom prst="rect">
                <a:avLst/>
              </a:prstGeom>
            </p:spPr>
          </p:pic>
        </mc:Fallback>
      </mc:AlternateContent>
    </p:spTree>
    <p:extLst>
      <p:ext uri="{BB962C8B-B14F-4D97-AF65-F5344CB8AC3E}">
        <p14:creationId xmlns:p14="http://schemas.microsoft.com/office/powerpoint/2010/main" val="3529744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F3126-7406-D6D6-BB7F-BC019EAD4672}"/>
              </a:ext>
            </a:extLst>
          </p:cNvPr>
          <p:cNvSpPr>
            <a:spLocks noGrp="1"/>
          </p:cNvSpPr>
          <p:nvPr>
            <p:ph type="title"/>
          </p:nvPr>
        </p:nvSpPr>
        <p:spPr/>
        <p:txBody>
          <a:bodyPr>
            <a:normAutofit/>
          </a:bodyPr>
          <a:lstStyle/>
          <a:p>
            <a:r>
              <a:rPr lang="en-US" sz="4800">
                <a:latin typeface="Times New Roman"/>
                <a:cs typeface="Times New Roman"/>
              </a:rPr>
              <a:t>The Problem</a:t>
            </a:r>
          </a:p>
        </p:txBody>
      </p:sp>
      <p:sp>
        <p:nvSpPr>
          <p:cNvPr id="3" name="Content Placeholder 2">
            <a:extLst>
              <a:ext uri="{FF2B5EF4-FFF2-40B4-BE49-F238E27FC236}">
                <a16:creationId xmlns:a16="http://schemas.microsoft.com/office/drawing/2014/main" id="{720734F3-5ADA-8A4D-21EA-967A98C61083}"/>
              </a:ext>
            </a:extLst>
          </p:cNvPr>
          <p:cNvSpPr>
            <a:spLocks noGrp="1"/>
          </p:cNvSpPr>
          <p:nvPr>
            <p:ph idx="1"/>
          </p:nvPr>
        </p:nvSpPr>
        <p:spPr/>
        <p:txBody>
          <a:bodyPr vert="horz" lIns="91440" tIns="45720" rIns="91440" bIns="45720" rtlCol="0" anchor="t">
            <a:normAutofit/>
          </a:bodyPr>
          <a:lstStyle/>
          <a:p>
            <a:pPr marL="0" indent="0">
              <a:buNone/>
            </a:pPr>
            <a:r>
              <a:rPr lang="en-US" sz="2400">
                <a:latin typeface="Times New Roman"/>
                <a:ea typeface="+mn-lt"/>
                <a:cs typeface="Times New Roman"/>
              </a:rPr>
              <a:t>LLMs sound confident, even when they're wrong or partially correct.</a:t>
            </a:r>
            <a:endParaRPr lang="en-US" sz="2400">
              <a:latin typeface="Times New Roman"/>
              <a:cs typeface="Times New Roman"/>
            </a:endParaRPr>
          </a:p>
        </p:txBody>
      </p:sp>
      <p:pic>
        <p:nvPicPr>
          <p:cNvPr id="4" name="Picture 3">
            <a:extLst>
              <a:ext uri="{FF2B5EF4-FFF2-40B4-BE49-F238E27FC236}">
                <a16:creationId xmlns:a16="http://schemas.microsoft.com/office/drawing/2014/main" id="{72396B6A-D2B9-82CE-87EB-E0F6102EDFDF}"/>
              </a:ext>
            </a:extLst>
          </p:cNvPr>
          <p:cNvPicPr>
            <a:picLocks noChangeAspect="1"/>
          </p:cNvPicPr>
          <p:nvPr/>
        </p:nvPicPr>
        <p:blipFill>
          <a:blip r:embed="rId3"/>
          <a:stretch>
            <a:fillRect/>
          </a:stretch>
        </p:blipFill>
        <p:spPr>
          <a:xfrm>
            <a:off x="609600" y="2509630"/>
            <a:ext cx="10972800" cy="3429000"/>
          </a:xfrm>
          <a:prstGeom prst="rect">
            <a:avLst/>
          </a:prstGeom>
        </p:spPr>
      </p:pic>
      <p:sp>
        <p:nvSpPr>
          <p:cNvPr id="5" name="TextBox 4">
            <a:extLst>
              <a:ext uri="{FF2B5EF4-FFF2-40B4-BE49-F238E27FC236}">
                <a16:creationId xmlns:a16="http://schemas.microsoft.com/office/drawing/2014/main" id="{9E9CF579-1AED-905A-E412-671125D5F417}"/>
              </a:ext>
            </a:extLst>
          </p:cNvPr>
          <p:cNvSpPr txBox="1"/>
          <p:nvPr/>
        </p:nvSpPr>
        <p:spPr>
          <a:xfrm>
            <a:off x="9329530" y="6139070"/>
            <a:ext cx="276970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aseline="0">
                <a:latin typeface="Times New Roman"/>
              </a:rPr>
              <a:t>Vishesh Goyal – </a:t>
            </a:r>
            <a:r>
              <a:rPr lang="en-US" sz="1600" u="sng" strike="noStrike" baseline="0" dirty="0">
                <a:solidFill>
                  <a:srgbClr val="467886"/>
                </a:solidFill>
                <a:latin typeface="Times New Roman"/>
                <a:ea typeface="Segoe UI"/>
                <a:cs typeface="Segoe UI"/>
                <a:hlinkClick r:id="rId4"/>
              </a:rPr>
              <a:t>VisheshVerse</a:t>
            </a:r>
            <a:r>
              <a:rPr sz="1600">
                <a:latin typeface="Calibri"/>
                <a:ea typeface="Calibri"/>
                <a:cs typeface="Calibri"/>
              </a:rPr>
              <a:t>​</a:t>
            </a:r>
            <a:endParaRPr lang="en-US" sz="1600"/>
          </a:p>
        </p:txBody>
      </p:sp>
    </p:spTree>
    <p:extLst>
      <p:ext uri="{BB962C8B-B14F-4D97-AF65-F5344CB8AC3E}">
        <p14:creationId xmlns:p14="http://schemas.microsoft.com/office/powerpoint/2010/main" val="1051961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DBA23-EE2F-A233-A401-1657DD837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07DAC-47D2-0E59-B448-48B15790F384}"/>
              </a:ext>
            </a:extLst>
          </p:cNvPr>
          <p:cNvSpPr>
            <a:spLocks noGrp="1"/>
          </p:cNvSpPr>
          <p:nvPr>
            <p:ph type="title"/>
          </p:nvPr>
        </p:nvSpPr>
        <p:spPr/>
        <p:txBody>
          <a:bodyPr>
            <a:normAutofit/>
          </a:bodyPr>
          <a:lstStyle/>
          <a:p>
            <a:r>
              <a:rPr lang="en-US" sz="4800">
                <a:latin typeface="Times New Roman"/>
                <a:cs typeface="Times New Roman"/>
              </a:rPr>
              <a:t>The Effect of Hallucinations</a:t>
            </a:r>
            <a:endParaRPr lang="en-US" sz="4800" dirty="0">
              <a:latin typeface="Times New Roman"/>
              <a:cs typeface="Times New Roman"/>
            </a:endParaRPr>
          </a:p>
        </p:txBody>
      </p:sp>
      <p:sp>
        <p:nvSpPr>
          <p:cNvPr id="3" name="Content Placeholder 2">
            <a:extLst>
              <a:ext uri="{FF2B5EF4-FFF2-40B4-BE49-F238E27FC236}">
                <a16:creationId xmlns:a16="http://schemas.microsoft.com/office/drawing/2014/main" id="{F98E3DBB-42F9-DD0B-DEE6-8B95546E40D3}"/>
              </a:ext>
            </a:extLst>
          </p:cNvPr>
          <p:cNvSpPr>
            <a:spLocks noGrp="1"/>
          </p:cNvSpPr>
          <p:nvPr>
            <p:ph idx="1"/>
          </p:nvPr>
        </p:nvSpPr>
        <p:spPr/>
        <p:txBody>
          <a:bodyPr vert="horz" lIns="91440" tIns="45720" rIns="91440" bIns="45720" rtlCol="0" anchor="t">
            <a:normAutofit/>
          </a:bodyPr>
          <a:lstStyle/>
          <a:p>
            <a:pPr>
              <a:buFont typeface="Arial"/>
              <a:buChar char="•"/>
            </a:pPr>
            <a:r>
              <a:rPr lang="en-US" sz="2400">
                <a:latin typeface="Times New Roman"/>
                <a:ea typeface="+mn-lt"/>
                <a:cs typeface="Times New Roman"/>
              </a:rPr>
              <a:t>Healthcare → false medical claims → bad clinical decisions</a:t>
            </a:r>
            <a:endParaRPr lang="en-US">
              <a:latin typeface="Times New Roman"/>
              <a:cs typeface="Times New Roman"/>
            </a:endParaRPr>
          </a:p>
          <a:p>
            <a:pPr>
              <a:buFont typeface="Arial"/>
              <a:buChar char="•"/>
            </a:pPr>
            <a:r>
              <a:rPr lang="en-US" sz="2400">
                <a:latin typeface="Times New Roman"/>
                <a:ea typeface="+mn-lt"/>
                <a:cs typeface="Times New Roman"/>
              </a:rPr>
              <a:t>Academic research → fabricated citations, wrong stats</a:t>
            </a:r>
            <a:endParaRPr lang="en-US">
              <a:latin typeface="Times New Roman"/>
              <a:cs typeface="Times New Roman"/>
            </a:endParaRPr>
          </a:p>
          <a:p>
            <a:pPr>
              <a:buFont typeface="Arial"/>
              <a:buChar char="•"/>
            </a:pPr>
            <a:r>
              <a:rPr lang="en-US" sz="2400">
                <a:latin typeface="Times New Roman"/>
                <a:ea typeface="+mn-lt"/>
                <a:cs typeface="Times New Roman"/>
              </a:rPr>
              <a:t>Public platforms → confident misinformation spreads at scale</a:t>
            </a:r>
            <a:endParaRPr lang="en-US">
              <a:latin typeface="Times New Roman"/>
              <a:cs typeface="Times New Roman"/>
            </a:endParaRPr>
          </a:p>
          <a:p>
            <a:pPr>
              <a:buFont typeface="Arial"/>
              <a:buChar char="•"/>
            </a:pPr>
            <a:r>
              <a:rPr lang="en-US" sz="2400">
                <a:latin typeface="Times New Roman"/>
                <a:ea typeface="+mn-lt"/>
                <a:cs typeface="Times New Roman"/>
              </a:rPr>
              <a:t>The danger isn't the error, it's the </a:t>
            </a:r>
            <a:r>
              <a:rPr lang="en-US" sz="2400" i="1">
                <a:latin typeface="Times New Roman"/>
                <a:ea typeface="+mn-lt"/>
                <a:cs typeface="Times New Roman"/>
              </a:rPr>
              <a:t>fluency</a:t>
            </a:r>
            <a:r>
              <a:rPr lang="en-US" sz="2400">
                <a:latin typeface="Times New Roman"/>
                <a:ea typeface="+mn-lt"/>
                <a:cs typeface="Times New Roman"/>
              </a:rPr>
              <a:t> around the error</a:t>
            </a:r>
            <a:endParaRPr lang="en-US">
              <a:latin typeface="Times New Roman"/>
              <a:cs typeface="Times New Roman"/>
            </a:endParaRPr>
          </a:p>
        </p:txBody>
      </p:sp>
      <p:sp>
        <p:nvSpPr>
          <p:cNvPr id="5" name="TextBox 4">
            <a:extLst>
              <a:ext uri="{FF2B5EF4-FFF2-40B4-BE49-F238E27FC236}">
                <a16:creationId xmlns:a16="http://schemas.microsoft.com/office/drawing/2014/main" id="{38C2E4A6-65D9-1324-84F8-90C9254F7187}"/>
              </a:ext>
            </a:extLst>
          </p:cNvPr>
          <p:cNvSpPr txBox="1"/>
          <p:nvPr/>
        </p:nvSpPr>
        <p:spPr>
          <a:xfrm>
            <a:off x="9329530" y="6139070"/>
            <a:ext cx="276970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aseline="0">
                <a:latin typeface="Times New Roman"/>
              </a:rPr>
              <a:t>Vishesh Goyal – </a:t>
            </a:r>
            <a:r>
              <a:rPr lang="en-US" sz="1600" u="sng" strike="noStrike" baseline="0" dirty="0">
                <a:solidFill>
                  <a:srgbClr val="467886"/>
                </a:solidFill>
                <a:latin typeface="Times New Roman"/>
                <a:ea typeface="Segoe UI"/>
                <a:cs typeface="Segoe UI"/>
                <a:hlinkClick r:id="rId3"/>
              </a:rPr>
              <a:t>VisheshVerse</a:t>
            </a:r>
            <a:r>
              <a:rPr sz="1600">
                <a:latin typeface="Calibri"/>
                <a:ea typeface="Calibri"/>
                <a:cs typeface="Calibri"/>
              </a:rPr>
              <a:t>​</a:t>
            </a:r>
            <a:endParaRPr lang="en-US" sz="1600"/>
          </a:p>
        </p:txBody>
      </p:sp>
    </p:spTree>
    <p:extLst>
      <p:ext uri="{BB962C8B-B14F-4D97-AF65-F5344CB8AC3E}">
        <p14:creationId xmlns:p14="http://schemas.microsoft.com/office/powerpoint/2010/main" val="1003189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1B156-5065-E01E-9DC1-F01CDBFDA1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54DF14-5266-9614-81ED-583A80643ACB}"/>
              </a:ext>
            </a:extLst>
          </p:cNvPr>
          <p:cNvSpPr>
            <a:spLocks noGrp="1"/>
          </p:cNvSpPr>
          <p:nvPr>
            <p:ph type="title"/>
          </p:nvPr>
        </p:nvSpPr>
        <p:spPr/>
        <p:txBody>
          <a:bodyPr>
            <a:normAutofit fontScale="90000"/>
          </a:bodyPr>
          <a:lstStyle/>
          <a:p>
            <a:r>
              <a:rPr lang="en-US" sz="4800">
                <a:latin typeface="-webkit-standard"/>
                <a:cs typeface="Times New Roman"/>
              </a:rPr>
              <a:t>What Already Exists and Why are they insufficient?</a:t>
            </a:r>
            <a:endParaRPr lang="en-US"/>
          </a:p>
        </p:txBody>
      </p:sp>
      <p:sp>
        <p:nvSpPr>
          <p:cNvPr id="3" name="Content Placeholder 2">
            <a:extLst>
              <a:ext uri="{FF2B5EF4-FFF2-40B4-BE49-F238E27FC236}">
                <a16:creationId xmlns:a16="http://schemas.microsoft.com/office/drawing/2014/main" id="{4A24F3D9-DD37-83D3-04BB-6A54D0009B14}"/>
              </a:ext>
            </a:extLst>
          </p:cNvPr>
          <p:cNvSpPr>
            <a:spLocks noGrp="1"/>
          </p:cNvSpPr>
          <p:nvPr>
            <p:ph idx="1"/>
          </p:nvPr>
        </p:nvSpPr>
        <p:spPr/>
        <p:txBody>
          <a:bodyPr vert="horz" lIns="91440" tIns="45720" rIns="91440" bIns="45720" rtlCol="0" anchor="t">
            <a:normAutofit/>
          </a:bodyPr>
          <a:lstStyle/>
          <a:p>
            <a:pPr>
              <a:buFont typeface="Arial,Sans-Serif"/>
              <a:buChar char="•"/>
            </a:pPr>
            <a:r>
              <a:rPr lang="en-US" sz="2400">
                <a:latin typeface="Times New Roman"/>
                <a:ea typeface="+mn-lt"/>
                <a:cs typeface="Times New Roman"/>
              </a:rPr>
              <a:t>RAG → grounds generation, doesn't fix errors already made</a:t>
            </a:r>
            <a:endParaRPr lang="en-US">
              <a:latin typeface="Times New Roman"/>
              <a:cs typeface="Times New Roman"/>
            </a:endParaRPr>
          </a:p>
          <a:p>
            <a:pPr>
              <a:buFont typeface="Arial,Sans-Serif"/>
              <a:buChar char="•"/>
            </a:pPr>
            <a:r>
              <a:rPr lang="en-US" sz="2400">
                <a:latin typeface="Times New Roman"/>
                <a:ea typeface="+mn-lt"/>
                <a:cs typeface="Times New Roman"/>
              </a:rPr>
              <a:t>NLI verification → struggles with compound/multi-hop claims</a:t>
            </a:r>
            <a:endParaRPr lang="en-US">
              <a:latin typeface="Times New Roman"/>
              <a:cs typeface="Times New Roman"/>
            </a:endParaRPr>
          </a:p>
          <a:p>
            <a:pPr>
              <a:buFont typeface="Arial,Sans-Serif"/>
              <a:buChar char="•"/>
            </a:pPr>
            <a:r>
              <a:rPr lang="en-US" sz="2400" dirty="0" err="1">
                <a:latin typeface="Times New Roman"/>
                <a:ea typeface="+mn-lt"/>
                <a:cs typeface="Times New Roman"/>
              </a:rPr>
              <a:t>CoVe</a:t>
            </a:r>
            <a:r>
              <a:rPr lang="en-US" sz="2400" dirty="0">
                <a:latin typeface="Times New Roman"/>
                <a:ea typeface="+mn-lt"/>
                <a:cs typeface="Times New Roman"/>
              </a:rPr>
              <a:t> (self-verification) → limited by model's own knowledge, costly</a:t>
            </a:r>
            <a:endParaRPr lang="en-US">
              <a:latin typeface="Times New Roman"/>
              <a:cs typeface="Times New Roman"/>
            </a:endParaRPr>
          </a:p>
          <a:p>
            <a:pPr>
              <a:buFont typeface="Arial,Sans-Serif"/>
              <a:buChar char="•"/>
            </a:pPr>
            <a:r>
              <a:rPr lang="en-US" sz="2400">
                <a:latin typeface="Times New Roman"/>
                <a:ea typeface="+mn-lt"/>
                <a:cs typeface="Times New Roman"/>
              </a:rPr>
              <a:t>KGR (knowledge graphs) → accurate but domain-limited</a:t>
            </a:r>
            <a:endParaRPr lang="en-US">
              <a:latin typeface="Times New Roman"/>
              <a:cs typeface="Times New Roman"/>
            </a:endParaRPr>
          </a:p>
          <a:p>
            <a:pPr>
              <a:buFont typeface="Arial,Sans-Serif"/>
              <a:buChar char="•"/>
            </a:pPr>
            <a:r>
              <a:rPr lang="en-US" sz="2400" dirty="0" err="1">
                <a:latin typeface="Times New Roman"/>
                <a:ea typeface="+mn-lt"/>
                <a:cs typeface="Times New Roman"/>
              </a:rPr>
              <a:t>WikiChat</a:t>
            </a:r>
            <a:r>
              <a:rPr lang="en-US" sz="2400" dirty="0">
                <a:latin typeface="Times New Roman"/>
                <a:ea typeface="+mn-lt"/>
                <a:cs typeface="Times New Roman"/>
              </a:rPr>
              <a:t> → Wikipedia-grounded, but discards unverifiable claims entirely</a:t>
            </a:r>
          </a:p>
          <a:p>
            <a:pPr>
              <a:buFont typeface="Arial,Sans-Serif"/>
              <a:buChar char="•"/>
            </a:pPr>
            <a:endParaRPr lang="en-US" sz="2400" dirty="0">
              <a:latin typeface="Times New Roman"/>
              <a:cs typeface="Times New Roman"/>
            </a:endParaRPr>
          </a:p>
          <a:p>
            <a:pPr marL="0" indent="0">
              <a:buNone/>
            </a:pPr>
            <a:r>
              <a:rPr lang="en-US" sz="2400">
                <a:latin typeface="Times New Roman"/>
                <a:ea typeface="+mn-lt"/>
                <a:cs typeface="Times New Roman"/>
              </a:rPr>
              <a:t>No existing system corrects a response </a:t>
            </a:r>
            <a:r>
              <a:rPr lang="en-US" sz="2400" b="1">
                <a:latin typeface="Times New Roman"/>
                <a:ea typeface="+mn-lt"/>
                <a:cs typeface="Times New Roman"/>
              </a:rPr>
              <a:t>inline, before delivery, without retraining the model. </a:t>
            </a:r>
            <a:endParaRPr lang="en-US">
              <a:latin typeface="Times New Roman"/>
              <a:cs typeface="Times New Roman"/>
            </a:endParaRPr>
          </a:p>
          <a:p>
            <a:pPr marL="0" indent="0">
              <a:buNone/>
            </a:pPr>
            <a:r>
              <a:rPr lang="en-US" sz="2400" dirty="0">
                <a:latin typeface="Times New Roman"/>
                <a:ea typeface="+mn-lt"/>
                <a:cs typeface="Times New Roman"/>
              </a:rPr>
              <a:t>That's the exact gap </a:t>
            </a:r>
            <a:r>
              <a:rPr lang="en-US" sz="2400" dirty="0" err="1">
                <a:latin typeface="Times New Roman"/>
                <a:ea typeface="+mn-lt"/>
                <a:cs typeface="Times New Roman"/>
              </a:rPr>
              <a:t>RealityCheck</a:t>
            </a:r>
            <a:r>
              <a:rPr lang="en-US" sz="2400" dirty="0">
                <a:latin typeface="Times New Roman"/>
                <a:ea typeface="+mn-lt"/>
                <a:cs typeface="Times New Roman"/>
              </a:rPr>
              <a:t> is built for. </a:t>
            </a:r>
            <a:endParaRPr lang="en-US" dirty="0">
              <a:latin typeface="Times New Roman"/>
              <a:ea typeface="+mn-lt"/>
              <a:cs typeface="Times New Roman"/>
            </a:endParaRPr>
          </a:p>
        </p:txBody>
      </p:sp>
      <p:sp>
        <p:nvSpPr>
          <p:cNvPr id="5" name="TextBox 4">
            <a:extLst>
              <a:ext uri="{FF2B5EF4-FFF2-40B4-BE49-F238E27FC236}">
                <a16:creationId xmlns:a16="http://schemas.microsoft.com/office/drawing/2014/main" id="{454D473F-0A02-4E35-682F-4D6DB955AF21}"/>
              </a:ext>
            </a:extLst>
          </p:cNvPr>
          <p:cNvSpPr txBox="1"/>
          <p:nvPr/>
        </p:nvSpPr>
        <p:spPr>
          <a:xfrm>
            <a:off x="9329530" y="6139070"/>
            <a:ext cx="276970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aseline="0">
                <a:latin typeface="Times New Roman"/>
              </a:rPr>
              <a:t>Vishesh Goyal – </a:t>
            </a:r>
            <a:r>
              <a:rPr lang="en-US" sz="1600" u="sng" strike="noStrike" baseline="0" dirty="0">
                <a:solidFill>
                  <a:srgbClr val="467886"/>
                </a:solidFill>
                <a:latin typeface="Times New Roman"/>
                <a:ea typeface="Segoe UI"/>
                <a:cs typeface="Segoe UI"/>
                <a:hlinkClick r:id="rId3"/>
              </a:rPr>
              <a:t>VisheshVerse</a:t>
            </a:r>
            <a:r>
              <a:rPr sz="1600">
                <a:latin typeface="Calibri"/>
                <a:ea typeface="Calibri"/>
                <a:cs typeface="Calibri"/>
              </a:rPr>
              <a:t>​</a:t>
            </a:r>
            <a:endParaRPr lang="en-US" sz="1600"/>
          </a:p>
        </p:txBody>
      </p:sp>
    </p:spTree>
    <p:extLst>
      <p:ext uri="{BB962C8B-B14F-4D97-AF65-F5344CB8AC3E}">
        <p14:creationId xmlns:p14="http://schemas.microsoft.com/office/powerpoint/2010/main" val="2993695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455B0C-AAC9-299B-7029-41BAF4C19A9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6FA83A6-FB78-1C69-06FB-23A9AD1EB3EF}"/>
              </a:ext>
            </a:extLst>
          </p:cNvPr>
          <p:cNvSpPr>
            <a:spLocks noGrp="1"/>
          </p:cNvSpPr>
          <p:nvPr>
            <p:ph type="title"/>
          </p:nvPr>
        </p:nvSpPr>
        <p:spPr>
          <a:xfrm>
            <a:off x="371094" y="1161288"/>
            <a:ext cx="3438144" cy="1239012"/>
          </a:xfrm>
        </p:spPr>
        <p:txBody>
          <a:bodyPr anchor="ctr">
            <a:normAutofit/>
          </a:bodyPr>
          <a:lstStyle/>
          <a:p>
            <a:r>
              <a:rPr lang="en-US" sz="2800">
                <a:latin typeface="-webkit-standard"/>
                <a:cs typeface="Times New Roman"/>
              </a:rPr>
              <a:t>Introducing RealityCheck</a:t>
            </a:r>
            <a:endParaRPr lang="en-US" sz="2800"/>
          </a:p>
        </p:txBody>
      </p:sp>
      <p:sp>
        <p:nvSpPr>
          <p:cNvPr id="16" name="Rectangle 15">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2FD4E0D-22DC-542D-0C1E-EA6E9D419FFC}"/>
              </a:ext>
            </a:extLst>
          </p:cNvPr>
          <p:cNvSpPr>
            <a:spLocks noGrp="1"/>
          </p:cNvSpPr>
          <p:nvPr>
            <p:ph idx="1"/>
          </p:nvPr>
        </p:nvSpPr>
        <p:spPr>
          <a:xfrm>
            <a:off x="371094" y="2718054"/>
            <a:ext cx="3438906" cy="3207258"/>
          </a:xfrm>
        </p:spPr>
        <p:txBody>
          <a:bodyPr vert="horz" lIns="91440" tIns="45720" rIns="91440" bIns="45720" rtlCol="0" anchor="t">
            <a:normAutofit/>
          </a:bodyPr>
          <a:lstStyle/>
          <a:p>
            <a:pPr>
              <a:buFont typeface="Arial"/>
              <a:buChar char="•"/>
            </a:pPr>
            <a:r>
              <a:rPr lang="en-US" sz="1700">
                <a:latin typeface="Times New Roman"/>
                <a:ea typeface="+mn-lt"/>
                <a:cs typeface="Times New Roman"/>
              </a:rPr>
              <a:t>Modular, six-phase, model-agnostic correction pipeline</a:t>
            </a:r>
          </a:p>
          <a:p>
            <a:pPr>
              <a:buFont typeface="Arial"/>
              <a:buChar char="•"/>
            </a:pPr>
            <a:r>
              <a:rPr lang="en-US" sz="1700">
                <a:latin typeface="Times New Roman"/>
                <a:ea typeface="+mn-lt"/>
                <a:cs typeface="Times New Roman"/>
              </a:rPr>
              <a:t>Operates </a:t>
            </a:r>
            <a:r>
              <a:rPr lang="en-US" sz="1700" i="1">
                <a:latin typeface="Times New Roman"/>
                <a:ea typeface="+mn-lt"/>
                <a:cs typeface="Times New Roman"/>
              </a:rPr>
              <a:t>externally.</a:t>
            </a:r>
            <a:r>
              <a:rPr lang="en-US" sz="1700">
                <a:latin typeface="Times New Roman"/>
                <a:ea typeface="+mn-lt"/>
                <a:cs typeface="Times New Roman"/>
              </a:rPr>
              <a:t> No fine-tuning, no architecture changes</a:t>
            </a:r>
            <a:endParaRPr lang="en-US" sz="1700">
              <a:latin typeface="Times New Roman"/>
              <a:cs typeface="Times New Roman"/>
            </a:endParaRPr>
          </a:p>
          <a:p>
            <a:pPr>
              <a:buFont typeface="Arial"/>
              <a:buChar char="•"/>
            </a:pPr>
            <a:r>
              <a:rPr lang="en-US" sz="1700">
                <a:latin typeface="Times New Roman"/>
                <a:ea typeface="+mn-lt"/>
                <a:cs typeface="Times New Roman"/>
              </a:rPr>
              <a:t>Generate → Extract → Retrieve → Verify → Override → Synthesize</a:t>
            </a:r>
            <a:endParaRPr lang="en-US" sz="1700">
              <a:latin typeface="Times New Roman"/>
              <a:cs typeface="Times New Roman"/>
            </a:endParaRPr>
          </a:p>
          <a:p>
            <a:pPr>
              <a:buFont typeface="Arial,Sans-Serif"/>
              <a:buChar char="•"/>
            </a:pPr>
            <a:endParaRPr lang="en-US" sz="1700">
              <a:latin typeface="Times New Roman"/>
              <a:cs typeface="Times New Roman"/>
            </a:endParaRPr>
          </a:p>
        </p:txBody>
      </p:sp>
      <p:pic>
        <p:nvPicPr>
          <p:cNvPr id="4" name="Picture 3">
            <a:extLst>
              <a:ext uri="{FF2B5EF4-FFF2-40B4-BE49-F238E27FC236}">
                <a16:creationId xmlns:a16="http://schemas.microsoft.com/office/drawing/2014/main" id="{C3235F69-C4B1-5EE6-C890-DA9402FF6EC1}"/>
              </a:ext>
            </a:extLst>
          </p:cNvPr>
          <p:cNvPicPr>
            <a:picLocks noChangeAspect="1"/>
          </p:cNvPicPr>
          <p:nvPr/>
        </p:nvPicPr>
        <p:blipFill>
          <a:blip r:embed="rId3"/>
          <a:stretch>
            <a:fillRect/>
          </a:stretch>
        </p:blipFill>
        <p:spPr>
          <a:xfrm>
            <a:off x="4695776" y="1659531"/>
            <a:ext cx="7246686" cy="3540130"/>
          </a:xfrm>
          <a:prstGeom prst="rect">
            <a:avLst/>
          </a:prstGeom>
        </p:spPr>
      </p:pic>
      <p:sp>
        <p:nvSpPr>
          <p:cNvPr id="5" name="TextBox 4">
            <a:extLst>
              <a:ext uri="{FF2B5EF4-FFF2-40B4-BE49-F238E27FC236}">
                <a16:creationId xmlns:a16="http://schemas.microsoft.com/office/drawing/2014/main" id="{A4550F61-01AA-114B-A86B-8ED653D7F8B7}"/>
              </a:ext>
            </a:extLst>
          </p:cNvPr>
          <p:cNvSpPr txBox="1"/>
          <p:nvPr/>
        </p:nvSpPr>
        <p:spPr>
          <a:xfrm>
            <a:off x="9329530" y="6139070"/>
            <a:ext cx="276970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sz="1600" baseline="0">
                <a:latin typeface="Times New Roman"/>
              </a:rPr>
              <a:t>Vishesh Goyal – </a:t>
            </a:r>
            <a:r>
              <a:rPr lang="en-US" sz="1600" u="sng" strike="noStrike" baseline="0" dirty="0">
                <a:solidFill>
                  <a:srgbClr val="467886"/>
                </a:solidFill>
                <a:latin typeface="Times New Roman"/>
                <a:ea typeface="Segoe UI"/>
                <a:cs typeface="Segoe UI"/>
                <a:hlinkClick r:id="rId4"/>
              </a:rPr>
              <a:t>VisheshVerse</a:t>
            </a:r>
            <a:r>
              <a:rPr sz="1600">
                <a:latin typeface="Calibri"/>
                <a:ea typeface="Calibri"/>
                <a:cs typeface="Calibri"/>
              </a:rPr>
              <a:t>​</a:t>
            </a:r>
            <a:endParaRPr lang="en-US" sz="1600"/>
          </a:p>
        </p:txBody>
      </p:sp>
    </p:spTree>
    <p:extLst>
      <p:ext uri="{BB962C8B-B14F-4D97-AF65-F5344CB8AC3E}">
        <p14:creationId xmlns:p14="http://schemas.microsoft.com/office/powerpoint/2010/main" val="3298898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77BE6-D44E-C104-51D8-22475EDD1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F99A3-F6E0-246F-3E74-F00F2CFCA814}"/>
              </a:ext>
            </a:extLst>
          </p:cNvPr>
          <p:cNvSpPr>
            <a:spLocks noGrp="1"/>
          </p:cNvSpPr>
          <p:nvPr>
            <p:ph type="title"/>
          </p:nvPr>
        </p:nvSpPr>
        <p:spPr/>
        <p:txBody>
          <a:bodyPr>
            <a:normAutofit/>
          </a:bodyPr>
          <a:lstStyle/>
          <a:p>
            <a:r>
              <a:rPr lang="en-US" sz="4800" dirty="0">
                <a:latin typeface="-webkit-standard"/>
                <a:cs typeface="Times New Roman"/>
              </a:rPr>
              <a:t>Dataset: </a:t>
            </a:r>
            <a:r>
              <a:rPr lang="en-US" sz="4800" dirty="0" err="1">
                <a:latin typeface="-webkit-standard"/>
                <a:cs typeface="Times New Roman"/>
              </a:rPr>
              <a:t>TruthfulQA</a:t>
            </a:r>
            <a:endParaRPr lang="en-US" dirty="0" err="1"/>
          </a:p>
        </p:txBody>
      </p:sp>
      <p:sp>
        <p:nvSpPr>
          <p:cNvPr id="3" name="Content Placeholder 2">
            <a:extLst>
              <a:ext uri="{FF2B5EF4-FFF2-40B4-BE49-F238E27FC236}">
                <a16:creationId xmlns:a16="http://schemas.microsoft.com/office/drawing/2014/main" id="{CCA96E29-5815-037B-1EB5-B574F13BFC43}"/>
              </a:ext>
            </a:extLst>
          </p:cNvPr>
          <p:cNvSpPr>
            <a:spLocks noGrp="1"/>
          </p:cNvSpPr>
          <p:nvPr>
            <p:ph idx="1"/>
          </p:nvPr>
        </p:nvSpPr>
        <p:spPr/>
        <p:txBody>
          <a:bodyPr vert="horz" lIns="91440" tIns="45720" rIns="91440" bIns="45720" rtlCol="0" anchor="t">
            <a:normAutofit/>
          </a:bodyPr>
          <a:lstStyle/>
          <a:p>
            <a:pPr>
              <a:buFont typeface="Arial,Sans-Serif"/>
              <a:buChar char="•"/>
            </a:pPr>
            <a:r>
              <a:rPr lang="en-US" sz="2400">
                <a:latin typeface="Times New Roman"/>
                <a:ea typeface="+mn-lt"/>
                <a:cs typeface="Times New Roman"/>
              </a:rPr>
              <a:t>817 questions across 38 categories (health, law, finance, history, conspiracy theories)</a:t>
            </a:r>
            <a:endParaRPr lang="en-US">
              <a:latin typeface="Times New Roman"/>
              <a:ea typeface="+mn-lt"/>
              <a:cs typeface="Times New Roman"/>
            </a:endParaRPr>
          </a:p>
          <a:p>
            <a:pPr>
              <a:buFont typeface="Arial,Sans-Serif"/>
              <a:buChar char="•"/>
            </a:pPr>
            <a:r>
              <a:rPr lang="en-US" sz="2400">
                <a:latin typeface="Times New Roman"/>
                <a:ea typeface="+mn-lt"/>
                <a:cs typeface="Times New Roman"/>
              </a:rPr>
              <a:t>Designed to trigger </a:t>
            </a:r>
            <a:r>
              <a:rPr lang="en-US" sz="2400" i="1">
                <a:latin typeface="Times New Roman"/>
                <a:ea typeface="+mn-lt"/>
                <a:cs typeface="Times New Roman"/>
              </a:rPr>
              <a:t>popular misconceptions</a:t>
            </a:r>
            <a:r>
              <a:rPr lang="en-US" sz="2400">
                <a:latin typeface="Times New Roman"/>
                <a:ea typeface="+mn-lt"/>
                <a:cs typeface="Times New Roman"/>
              </a:rPr>
              <a:t>, not just test ignorance</a:t>
            </a:r>
            <a:endParaRPr lang="en-US">
              <a:latin typeface="Times New Roman"/>
              <a:cs typeface="Times New Roman"/>
            </a:endParaRPr>
          </a:p>
          <a:p>
            <a:pPr>
              <a:buFont typeface="Arial,Sans-Serif"/>
              <a:buChar char="•"/>
            </a:pPr>
            <a:r>
              <a:rPr lang="en-US" sz="2400" dirty="0">
                <a:latin typeface="Times New Roman"/>
                <a:ea typeface="+mn-lt"/>
                <a:cs typeface="Times New Roman"/>
              </a:rPr>
              <a:t>Perfect fit for </a:t>
            </a:r>
            <a:r>
              <a:rPr lang="en-US" sz="2400" dirty="0" err="1">
                <a:latin typeface="Times New Roman"/>
                <a:ea typeface="+mn-lt"/>
                <a:cs typeface="Times New Roman"/>
              </a:rPr>
              <a:t>RealityCheck</a:t>
            </a:r>
            <a:r>
              <a:rPr lang="en-US" sz="2400" dirty="0">
                <a:latin typeface="Times New Roman"/>
                <a:ea typeface="+mn-lt"/>
                <a:cs typeface="Times New Roman"/>
              </a:rPr>
              <a:t> as we target fluent-but-false answers, not knowledge gaps</a:t>
            </a:r>
            <a:endParaRPr lang="en-US" dirty="0">
              <a:latin typeface="Times New Roman"/>
              <a:cs typeface="Times New Roman"/>
            </a:endParaRPr>
          </a:p>
        </p:txBody>
      </p:sp>
      <p:sp>
        <p:nvSpPr>
          <p:cNvPr id="5" name="TextBox 4">
            <a:extLst>
              <a:ext uri="{FF2B5EF4-FFF2-40B4-BE49-F238E27FC236}">
                <a16:creationId xmlns:a16="http://schemas.microsoft.com/office/drawing/2014/main" id="{92EA2A69-32DC-8032-D4A8-4670ACF9EFE7}"/>
              </a:ext>
            </a:extLst>
          </p:cNvPr>
          <p:cNvSpPr txBox="1"/>
          <p:nvPr/>
        </p:nvSpPr>
        <p:spPr>
          <a:xfrm>
            <a:off x="9329530" y="6139070"/>
            <a:ext cx="276970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aseline="0">
                <a:latin typeface="Times New Roman"/>
              </a:rPr>
              <a:t>Vishesh Goyal – </a:t>
            </a:r>
            <a:r>
              <a:rPr lang="en-US" sz="1600" u="sng" strike="noStrike" baseline="0" dirty="0">
                <a:solidFill>
                  <a:srgbClr val="467886"/>
                </a:solidFill>
                <a:latin typeface="Times New Roman"/>
                <a:ea typeface="Segoe UI"/>
                <a:cs typeface="Segoe UI"/>
                <a:hlinkClick r:id="rId3"/>
              </a:rPr>
              <a:t>VisheshVerse</a:t>
            </a:r>
            <a:r>
              <a:rPr sz="1600">
                <a:latin typeface="Calibri"/>
                <a:ea typeface="Calibri"/>
                <a:cs typeface="Calibri"/>
              </a:rPr>
              <a:t>​</a:t>
            </a:r>
            <a:endParaRPr lang="en-US" sz="1600"/>
          </a:p>
        </p:txBody>
      </p:sp>
    </p:spTree>
    <p:extLst>
      <p:ext uri="{BB962C8B-B14F-4D97-AF65-F5344CB8AC3E}">
        <p14:creationId xmlns:p14="http://schemas.microsoft.com/office/powerpoint/2010/main" val="475609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4FC8F-F1FE-AAA4-312F-8AB8E6D39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81CF70-8019-6278-8CAF-34AD0B8761EF}"/>
              </a:ext>
            </a:extLst>
          </p:cNvPr>
          <p:cNvSpPr>
            <a:spLocks noGrp="1"/>
          </p:cNvSpPr>
          <p:nvPr>
            <p:ph type="title"/>
          </p:nvPr>
        </p:nvSpPr>
        <p:spPr/>
        <p:txBody>
          <a:bodyPr>
            <a:normAutofit/>
          </a:bodyPr>
          <a:lstStyle/>
          <a:p>
            <a:r>
              <a:rPr lang="en-US" sz="4800" dirty="0">
                <a:latin typeface="-webkit-standard"/>
                <a:cs typeface="Times New Roman"/>
              </a:rPr>
              <a:t>The Process</a:t>
            </a:r>
            <a:br>
              <a:rPr lang="en-US" sz="4800" dirty="0">
                <a:latin typeface="-webkit-standard"/>
                <a:cs typeface="Times New Roman"/>
              </a:rPr>
            </a:br>
            <a:r>
              <a:rPr lang="en-US" sz="3600">
                <a:latin typeface="-webkit-standard"/>
                <a:cs typeface="Times New Roman"/>
              </a:rPr>
              <a:t>Step 1 : Claim Extraction</a:t>
            </a:r>
          </a:p>
        </p:txBody>
      </p:sp>
      <p:sp>
        <p:nvSpPr>
          <p:cNvPr id="3" name="Content Placeholder 2">
            <a:extLst>
              <a:ext uri="{FF2B5EF4-FFF2-40B4-BE49-F238E27FC236}">
                <a16:creationId xmlns:a16="http://schemas.microsoft.com/office/drawing/2014/main" id="{1017A782-BFE6-42B8-4945-C92D88F8D6A8}"/>
              </a:ext>
            </a:extLst>
          </p:cNvPr>
          <p:cNvSpPr>
            <a:spLocks noGrp="1"/>
          </p:cNvSpPr>
          <p:nvPr>
            <p:ph idx="1"/>
          </p:nvPr>
        </p:nvSpPr>
        <p:spPr>
          <a:xfrm>
            <a:off x="838200" y="3627921"/>
            <a:ext cx="10515600" cy="4351338"/>
          </a:xfrm>
        </p:spPr>
        <p:txBody>
          <a:bodyPr vert="horz" lIns="91440" tIns="45720" rIns="91440" bIns="45720" rtlCol="0" anchor="t">
            <a:normAutofit/>
          </a:bodyPr>
          <a:lstStyle/>
          <a:p>
            <a:pPr>
              <a:buFont typeface="Arial,Sans-Serif"/>
              <a:buChar char="•"/>
            </a:pPr>
            <a:r>
              <a:rPr lang="en-US" sz="2400">
                <a:latin typeface="Times New Roman"/>
                <a:ea typeface="+mn-lt"/>
                <a:cs typeface="Times New Roman"/>
              </a:rPr>
              <a:t>LLM response → split into sentences</a:t>
            </a:r>
            <a:endParaRPr lang="en-US">
              <a:latin typeface="Times New Roman"/>
              <a:cs typeface="Times New Roman"/>
            </a:endParaRPr>
          </a:p>
          <a:p>
            <a:pPr>
              <a:buFont typeface="Arial,Sans-Serif"/>
              <a:buChar char="•"/>
            </a:pPr>
            <a:r>
              <a:rPr lang="en-US" sz="2400">
                <a:latin typeface="Times New Roman"/>
                <a:ea typeface="+mn-lt"/>
                <a:cs typeface="Times New Roman"/>
              </a:rPr>
              <a:t>Each sentence checked for "checkability" (factual cue: named entity, year, verb pattern)</a:t>
            </a:r>
            <a:endParaRPr lang="en-US">
              <a:latin typeface="Times New Roman"/>
              <a:ea typeface="+mn-lt"/>
              <a:cs typeface="Times New Roman"/>
            </a:endParaRPr>
          </a:p>
          <a:p>
            <a:pPr>
              <a:buFont typeface="Arial,Sans-Serif"/>
              <a:buChar char="•"/>
            </a:pPr>
            <a:r>
              <a:rPr lang="en-US" sz="2400">
                <a:latin typeface="Times New Roman"/>
                <a:ea typeface="+mn-lt"/>
                <a:cs typeface="Times New Roman"/>
              </a:rPr>
              <a:t>Subjective/hedged sentences → marked non-checkable, skipped</a:t>
            </a:r>
            <a:endParaRPr lang="en-US">
              <a:latin typeface="Times New Roman"/>
              <a:cs typeface="Times New Roman"/>
            </a:endParaRPr>
          </a:p>
          <a:p>
            <a:pPr>
              <a:buFont typeface="Arial,Sans-Serif"/>
              <a:buChar char="•"/>
            </a:pPr>
            <a:r>
              <a:rPr lang="en-US" sz="2400">
                <a:latin typeface="Times New Roman"/>
                <a:ea typeface="+mn-lt"/>
                <a:cs typeface="Times New Roman"/>
              </a:rPr>
              <a:t>Context-dependent fragments enriched using the original question</a:t>
            </a:r>
            <a:endParaRPr lang="en-US">
              <a:latin typeface="Times New Roman"/>
              <a:cs typeface="Times New Roman"/>
            </a:endParaRPr>
          </a:p>
          <a:p>
            <a:pPr>
              <a:buFont typeface="Arial,Sans-Serif"/>
              <a:buChar char="•"/>
            </a:pPr>
            <a:endParaRPr lang="en-US" dirty="0">
              <a:latin typeface="Times New Roman"/>
              <a:cs typeface="Times New Roman"/>
            </a:endParaRPr>
          </a:p>
        </p:txBody>
      </p:sp>
      <p:sp>
        <p:nvSpPr>
          <p:cNvPr id="5" name="TextBox 4">
            <a:extLst>
              <a:ext uri="{FF2B5EF4-FFF2-40B4-BE49-F238E27FC236}">
                <a16:creationId xmlns:a16="http://schemas.microsoft.com/office/drawing/2014/main" id="{1861C186-EF86-DCE4-0741-7BB70C648B07}"/>
              </a:ext>
            </a:extLst>
          </p:cNvPr>
          <p:cNvSpPr txBox="1"/>
          <p:nvPr/>
        </p:nvSpPr>
        <p:spPr>
          <a:xfrm>
            <a:off x="9329530" y="6139070"/>
            <a:ext cx="276970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aseline="0">
                <a:latin typeface="Times New Roman"/>
              </a:rPr>
              <a:t>Vishesh Goyal – </a:t>
            </a:r>
            <a:r>
              <a:rPr lang="en-US" sz="1600" u="sng" strike="noStrike" baseline="0" dirty="0">
                <a:solidFill>
                  <a:srgbClr val="467886"/>
                </a:solidFill>
                <a:latin typeface="Times New Roman"/>
                <a:ea typeface="Segoe UI"/>
                <a:cs typeface="Segoe UI"/>
                <a:hlinkClick r:id="rId3"/>
              </a:rPr>
              <a:t>VisheshVerse</a:t>
            </a:r>
            <a:r>
              <a:rPr sz="1600">
                <a:latin typeface="Calibri"/>
                <a:ea typeface="Calibri"/>
                <a:cs typeface="Calibri"/>
              </a:rPr>
              <a:t>​</a:t>
            </a:r>
            <a:endParaRPr lang="en-US" sz="1600"/>
          </a:p>
        </p:txBody>
      </p:sp>
      <p:pic>
        <p:nvPicPr>
          <p:cNvPr id="6" name="Picture 5">
            <a:extLst>
              <a:ext uri="{FF2B5EF4-FFF2-40B4-BE49-F238E27FC236}">
                <a16:creationId xmlns:a16="http://schemas.microsoft.com/office/drawing/2014/main" id="{66C489CA-8649-D06F-CED3-CB816B113CB1}"/>
              </a:ext>
            </a:extLst>
          </p:cNvPr>
          <p:cNvPicPr>
            <a:picLocks noChangeAspect="1"/>
          </p:cNvPicPr>
          <p:nvPr/>
        </p:nvPicPr>
        <p:blipFill>
          <a:blip r:embed="rId4"/>
          <a:stretch>
            <a:fillRect/>
          </a:stretch>
        </p:blipFill>
        <p:spPr>
          <a:xfrm>
            <a:off x="3895725" y="1594816"/>
            <a:ext cx="4400550" cy="2038350"/>
          </a:xfrm>
          <a:prstGeom prst="rect">
            <a:avLst/>
          </a:prstGeom>
        </p:spPr>
      </p:pic>
    </p:spTree>
    <p:extLst>
      <p:ext uri="{BB962C8B-B14F-4D97-AF65-F5344CB8AC3E}">
        <p14:creationId xmlns:p14="http://schemas.microsoft.com/office/powerpoint/2010/main" val="3750032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67E1D-E7C3-C22D-62F7-BD9722DC6E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A0AC63-1CEC-C8A2-F071-29D86E4B0D42}"/>
              </a:ext>
            </a:extLst>
          </p:cNvPr>
          <p:cNvSpPr>
            <a:spLocks noGrp="1"/>
          </p:cNvSpPr>
          <p:nvPr>
            <p:ph type="title"/>
          </p:nvPr>
        </p:nvSpPr>
        <p:spPr/>
        <p:txBody>
          <a:bodyPr>
            <a:normAutofit/>
          </a:bodyPr>
          <a:lstStyle/>
          <a:p>
            <a:r>
              <a:rPr lang="en-US" sz="4800" dirty="0">
                <a:latin typeface="-webkit-standard"/>
                <a:cs typeface="Times New Roman"/>
              </a:rPr>
              <a:t>The Process</a:t>
            </a:r>
            <a:br>
              <a:rPr lang="en-US" sz="4800" dirty="0">
                <a:latin typeface="-webkit-standard"/>
                <a:cs typeface="Times New Roman"/>
              </a:rPr>
            </a:br>
            <a:r>
              <a:rPr lang="en-US" sz="3600">
                <a:latin typeface="-webkit-standard"/>
                <a:cs typeface="Times New Roman"/>
              </a:rPr>
              <a:t>Step 2 : Evidence Retrieval</a:t>
            </a:r>
            <a:endParaRPr lang="en-US"/>
          </a:p>
        </p:txBody>
      </p:sp>
      <p:sp>
        <p:nvSpPr>
          <p:cNvPr id="3" name="Content Placeholder 2">
            <a:extLst>
              <a:ext uri="{FF2B5EF4-FFF2-40B4-BE49-F238E27FC236}">
                <a16:creationId xmlns:a16="http://schemas.microsoft.com/office/drawing/2014/main" id="{AAA6CBD5-F2C1-B75D-96C6-32D24C34395C}"/>
              </a:ext>
            </a:extLst>
          </p:cNvPr>
          <p:cNvSpPr>
            <a:spLocks noGrp="1"/>
          </p:cNvSpPr>
          <p:nvPr>
            <p:ph idx="1"/>
          </p:nvPr>
        </p:nvSpPr>
        <p:spPr>
          <a:xfrm>
            <a:off x="838200" y="3084581"/>
            <a:ext cx="10515600" cy="4351338"/>
          </a:xfrm>
        </p:spPr>
        <p:txBody>
          <a:bodyPr vert="horz" lIns="91440" tIns="45720" rIns="91440" bIns="45720" rtlCol="0" anchor="t">
            <a:normAutofit/>
          </a:bodyPr>
          <a:lstStyle/>
          <a:p>
            <a:pPr>
              <a:buFont typeface="Arial,Sans-Serif"/>
              <a:buChar char="•"/>
            </a:pPr>
            <a:r>
              <a:rPr lang="en-US" sz="2400">
                <a:latin typeface="Times New Roman"/>
                <a:ea typeface="+mn-lt"/>
                <a:cs typeface="Times New Roman"/>
              </a:rPr>
              <a:t>Cache-first, 3-layer strategy:</a:t>
            </a:r>
            <a:endParaRPr lang="en-US">
              <a:latin typeface="Times New Roman"/>
              <a:cs typeface="Times New Roman"/>
            </a:endParaRPr>
          </a:p>
          <a:p>
            <a:pPr lvl="1">
              <a:buFont typeface="Arial"/>
              <a:buChar char="•"/>
            </a:pPr>
            <a:r>
              <a:rPr lang="en-US">
                <a:latin typeface="Times New Roman"/>
                <a:ea typeface="+mn-lt"/>
                <a:cs typeface="Times New Roman"/>
              </a:rPr>
              <a:t>Local seed evidence bank</a:t>
            </a:r>
            <a:endParaRPr lang="en-US">
              <a:latin typeface="Times New Roman"/>
              <a:cs typeface="Times New Roman"/>
            </a:endParaRPr>
          </a:p>
          <a:p>
            <a:pPr lvl="1">
              <a:buFont typeface="Arial"/>
              <a:buChar char="•"/>
            </a:pPr>
            <a:r>
              <a:rPr lang="en-US" dirty="0">
                <a:latin typeface="Times New Roman"/>
                <a:ea typeface="+mn-lt"/>
                <a:cs typeface="Times New Roman"/>
              </a:rPr>
              <a:t>Wikipedia </a:t>
            </a:r>
            <a:r>
              <a:rPr lang="en-US" dirty="0" err="1">
                <a:latin typeface="Times New Roman"/>
                <a:ea typeface="+mn-lt"/>
                <a:cs typeface="Times New Roman"/>
              </a:rPr>
              <a:t>MediaWiki</a:t>
            </a:r>
            <a:r>
              <a:rPr lang="en-US" dirty="0">
                <a:latin typeface="Times New Roman"/>
                <a:ea typeface="+mn-lt"/>
                <a:cs typeface="Times New Roman"/>
              </a:rPr>
              <a:t> API (+ OpenSearch fallback)</a:t>
            </a:r>
            <a:endParaRPr lang="en-US" dirty="0">
              <a:latin typeface="Times New Roman"/>
              <a:cs typeface="Times New Roman"/>
            </a:endParaRPr>
          </a:p>
          <a:p>
            <a:pPr lvl="1">
              <a:buFont typeface="Arial"/>
              <a:buChar char="•"/>
            </a:pPr>
            <a:r>
              <a:rPr lang="en-US">
                <a:latin typeface="Times New Roman"/>
                <a:ea typeface="+mn-lt"/>
                <a:cs typeface="Times New Roman"/>
              </a:rPr>
              <a:t>Direct source URL (if available</a:t>
            </a:r>
            <a:r>
              <a:rPr lang="en-US" sz="2400">
                <a:latin typeface="Times New Roman"/>
                <a:ea typeface="+mn-lt"/>
                <a:cs typeface="Times New Roman"/>
              </a:rPr>
              <a:t>)</a:t>
            </a:r>
            <a:endParaRPr lang="en-US">
              <a:latin typeface="Times New Roman"/>
              <a:ea typeface="+mn-lt"/>
              <a:cs typeface="Times New Roman"/>
            </a:endParaRPr>
          </a:p>
          <a:p>
            <a:pPr>
              <a:buFont typeface="Arial,Sans-Serif"/>
              <a:buChar char="•"/>
            </a:pPr>
            <a:r>
              <a:rPr lang="en-US" sz="2400">
                <a:latin typeface="Times New Roman"/>
                <a:ea typeface="+mn-lt"/>
                <a:cs typeface="Times New Roman"/>
              </a:rPr>
              <a:t>Retrieved pages chunked + ranked by semantic similarity</a:t>
            </a:r>
            <a:endParaRPr lang="en-US">
              <a:latin typeface="Times New Roman"/>
              <a:cs typeface="Times New Roman"/>
            </a:endParaRPr>
          </a:p>
          <a:p>
            <a:pPr>
              <a:buFont typeface="Arial,Sans-Serif"/>
              <a:buChar char="•"/>
            </a:pPr>
            <a:r>
              <a:rPr lang="en-US" sz="2400">
                <a:latin typeface="Times New Roman"/>
                <a:ea typeface="+mn-lt"/>
                <a:cs typeface="Times New Roman"/>
              </a:rPr>
              <a:t>Top-k chunks kept as claim-specific evidence</a:t>
            </a:r>
            <a:endParaRPr lang="en-US">
              <a:latin typeface="Times New Roman"/>
              <a:cs typeface="Times New Roman"/>
            </a:endParaRPr>
          </a:p>
          <a:p>
            <a:pPr>
              <a:buFont typeface="Arial,Sans-Serif"/>
              <a:buChar char="•"/>
            </a:pPr>
            <a:endParaRPr lang="en-US" dirty="0">
              <a:latin typeface="Times New Roman"/>
              <a:cs typeface="Times New Roman"/>
            </a:endParaRPr>
          </a:p>
        </p:txBody>
      </p:sp>
      <p:sp>
        <p:nvSpPr>
          <p:cNvPr id="5" name="TextBox 4">
            <a:extLst>
              <a:ext uri="{FF2B5EF4-FFF2-40B4-BE49-F238E27FC236}">
                <a16:creationId xmlns:a16="http://schemas.microsoft.com/office/drawing/2014/main" id="{A7640BC6-E3E1-AE7A-CAAF-4F6D4AD8FEEF}"/>
              </a:ext>
            </a:extLst>
          </p:cNvPr>
          <p:cNvSpPr txBox="1"/>
          <p:nvPr/>
        </p:nvSpPr>
        <p:spPr>
          <a:xfrm>
            <a:off x="9329530" y="6139070"/>
            <a:ext cx="276970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aseline="0">
                <a:latin typeface="Times New Roman"/>
              </a:rPr>
              <a:t>Vishesh Goyal – </a:t>
            </a:r>
            <a:r>
              <a:rPr lang="en-US" sz="1600" u="sng" strike="noStrike" baseline="0" dirty="0">
                <a:solidFill>
                  <a:srgbClr val="467886"/>
                </a:solidFill>
                <a:latin typeface="Times New Roman"/>
                <a:ea typeface="Segoe UI"/>
                <a:cs typeface="Segoe UI"/>
                <a:hlinkClick r:id="rId3"/>
              </a:rPr>
              <a:t>VisheshVerse</a:t>
            </a:r>
            <a:r>
              <a:rPr sz="1600">
                <a:latin typeface="Calibri"/>
                <a:ea typeface="Calibri"/>
                <a:cs typeface="Calibri"/>
              </a:rPr>
              <a:t>​</a:t>
            </a:r>
            <a:endParaRPr lang="en-US" sz="1600"/>
          </a:p>
        </p:txBody>
      </p:sp>
      <p:pic>
        <p:nvPicPr>
          <p:cNvPr id="4" name="Picture 3">
            <a:extLst>
              <a:ext uri="{FF2B5EF4-FFF2-40B4-BE49-F238E27FC236}">
                <a16:creationId xmlns:a16="http://schemas.microsoft.com/office/drawing/2014/main" id="{FB47BE76-AF17-6F2F-3EAF-7BBA7D3C21DD}"/>
              </a:ext>
            </a:extLst>
          </p:cNvPr>
          <p:cNvPicPr>
            <a:picLocks noChangeAspect="1"/>
          </p:cNvPicPr>
          <p:nvPr/>
        </p:nvPicPr>
        <p:blipFill>
          <a:blip r:embed="rId4"/>
          <a:stretch>
            <a:fillRect/>
          </a:stretch>
        </p:blipFill>
        <p:spPr>
          <a:xfrm>
            <a:off x="2650435" y="1693379"/>
            <a:ext cx="6891130" cy="1297884"/>
          </a:xfrm>
          <a:prstGeom prst="rect">
            <a:avLst/>
          </a:prstGeom>
        </p:spPr>
      </p:pic>
    </p:spTree>
    <p:extLst>
      <p:ext uri="{BB962C8B-B14F-4D97-AF65-F5344CB8AC3E}">
        <p14:creationId xmlns:p14="http://schemas.microsoft.com/office/powerpoint/2010/main" val="1428441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CC711-871D-FA88-A369-751D5CBEDB4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88BBD2B-077A-46A8-EC22-0FC847F153FB}"/>
              </a:ext>
            </a:extLst>
          </p:cNvPr>
          <p:cNvPicPr>
            <a:picLocks noChangeAspect="1"/>
          </p:cNvPicPr>
          <p:nvPr/>
        </p:nvPicPr>
        <p:blipFill>
          <a:blip r:embed="rId3"/>
          <a:stretch>
            <a:fillRect/>
          </a:stretch>
        </p:blipFill>
        <p:spPr>
          <a:xfrm>
            <a:off x="7951561" y="232229"/>
            <a:ext cx="3981450" cy="6248400"/>
          </a:xfrm>
          <a:prstGeom prst="rect">
            <a:avLst/>
          </a:prstGeom>
        </p:spPr>
      </p:pic>
      <p:sp>
        <p:nvSpPr>
          <p:cNvPr id="2" name="Title 1">
            <a:extLst>
              <a:ext uri="{FF2B5EF4-FFF2-40B4-BE49-F238E27FC236}">
                <a16:creationId xmlns:a16="http://schemas.microsoft.com/office/drawing/2014/main" id="{5C02DA2D-1679-9BC2-BEB9-8E0950688096}"/>
              </a:ext>
            </a:extLst>
          </p:cNvPr>
          <p:cNvSpPr>
            <a:spLocks noGrp="1"/>
          </p:cNvSpPr>
          <p:nvPr>
            <p:ph type="title"/>
          </p:nvPr>
        </p:nvSpPr>
        <p:spPr/>
        <p:txBody>
          <a:bodyPr>
            <a:normAutofit/>
          </a:bodyPr>
          <a:lstStyle/>
          <a:p>
            <a:r>
              <a:rPr lang="en-US" sz="4800" dirty="0">
                <a:latin typeface="-webkit-standard"/>
                <a:cs typeface="Times New Roman"/>
              </a:rPr>
              <a:t>The Process</a:t>
            </a:r>
            <a:br>
              <a:rPr lang="en-US" sz="4800" dirty="0">
                <a:latin typeface="-webkit-standard"/>
                <a:cs typeface="Times New Roman"/>
              </a:rPr>
            </a:br>
            <a:r>
              <a:rPr lang="en-US" sz="3600">
                <a:latin typeface="-webkit-standard"/>
                <a:cs typeface="Times New Roman"/>
              </a:rPr>
              <a:t>Step 3 : The Verification Engine</a:t>
            </a:r>
            <a:endParaRPr lang="en-US">
              <a:latin typeface="Aptos Display" panose="020F0302020204030204"/>
              <a:cs typeface="Times New Roman"/>
            </a:endParaRPr>
          </a:p>
        </p:txBody>
      </p:sp>
      <p:sp>
        <p:nvSpPr>
          <p:cNvPr id="3" name="Content Placeholder 2">
            <a:extLst>
              <a:ext uri="{FF2B5EF4-FFF2-40B4-BE49-F238E27FC236}">
                <a16:creationId xmlns:a16="http://schemas.microsoft.com/office/drawing/2014/main" id="{CDEF0F98-2326-F931-89AA-6F23B217F72C}"/>
              </a:ext>
            </a:extLst>
          </p:cNvPr>
          <p:cNvSpPr>
            <a:spLocks noGrp="1"/>
          </p:cNvSpPr>
          <p:nvPr>
            <p:ph idx="1"/>
          </p:nvPr>
        </p:nvSpPr>
        <p:spPr>
          <a:xfrm>
            <a:off x="838200" y="1958146"/>
            <a:ext cx="7308574" cy="4351338"/>
          </a:xfrm>
        </p:spPr>
        <p:txBody>
          <a:bodyPr vert="horz" lIns="91440" tIns="45720" rIns="91440" bIns="45720" rtlCol="0" anchor="t">
            <a:normAutofit/>
          </a:bodyPr>
          <a:lstStyle/>
          <a:p>
            <a:pPr>
              <a:buFont typeface="Arial"/>
              <a:buChar char="•"/>
            </a:pPr>
            <a:r>
              <a:rPr lang="en-US">
                <a:latin typeface="Times New Roman"/>
                <a:cs typeface="Times New Roman"/>
              </a:rPr>
              <a:t>Four fused signals, not one classifier:</a:t>
            </a:r>
          </a:p>
          <a:p>
            <a:pPr>
              <a:buFont typeface="Arial"/>
              <a:buChar char="•"/>
            </a:pPr>
            <a:r>
              <a:rPr lang="en-US">
                <a:latin typeface="Times New Roman"/>
                <a:ea typeface="+mn-lt"/>
                <a:cs typeface="Times New Roman"/>
              </a:rPr>
              <a:t>Semantic similarity (relevance gate)</a:t>
            </a:r>
            <a:endParaRPr lang="en-US">
              <a:latin typeface="Times New Roman"/>
              <a:cs typeface="Times New Roman"/>
            </a:endParaRPr>
          </a:p>
          <a:p>
            <a:pPr>
              <a:buFont typeface="Arial"/>
              <a:buChar char="•"/>
            </a:pPr>
            <a:r>
              <a:rPr lang="en-US">
                <a:latin typeface="Times New Roman"/>
                <a:ea typeface="+mn-lt"/>
                <a:cs typeface="Times New Roman"/>
              </a:rPr>
              <a:t>NLI cross-encoder (entailment / contradiction / neutral)</a:t>
            </a:r>
            <a:endParaRPr lang="en-US">
              <a:latin typeface="Times New Roman"/>
              <a:cs typeface="Times New Roman"/>
            </a:endParaRPr>
          </a:p>
          <a:p>
            <a:pPr>
              <a:buFont typeface="Arial"/>
              <a:buChar char="•"/>
            </a:pPr>
            <a:r>
              <a:rPr lang="en-US">
                <a:latin typeface="Times New Roman"/>
                <a:ea typeface="+mn-lt"/>
                <a:cs typeface="Times New Roman"/>
              </a:rPr>
              <a:t>Rule-based overrides (misattributed quotes, negation, compound facts)</a:t>
            </a:r>
            <a:endParaRPr lang="en-US">
              <a:latin typeface="Times New Roman"/>
              <a:cs typeface="Times New Roman"/>
            </a:endParaRPr>
          </a:p>
          <a:p>
            <a:pPr>
              <a:buFont typeface="Arial"/>
              <a:buChar char="•"/>
            </a:pPr>
            <a:r>
              <a:rPr lang="en-US">
                <a:latin typeface="Times New Roman"/>
                <a:ea typeface="+mn-lt"/>
                <a:cs typeface="Times New Roman"/>
              </a:rPr>
              <a:t>Noisy-OR aggregation across multiple chunks</a:t>
            </a:r>
            <a:endParaRPr lang="en-US">
              <a:latin typeface="Times New Roman"/>
              <a:cs typeface="Times New Roman"/>
            </a:endParaRPr>
          </a:p>
          <a:p>
            <a:pPr>
              <a:buFont typeface="Arial,Sans-Serif"/>
              <a:buChar char="•"/>
            </a:pPr>
            <a:endParaRPr lang="en-US" dirty="0">
              <a:latin typeface="Times New Roman"/>
              <a:cs typeface="Times New Roman"/>
            </a:endParaRPr>
          </a:p>
        </p:txBody>
      </p:sp>
      <p:sp>
        <p:nvSpPr>
          <p:cNvPr id="5" name="TextBox 4">
            <a:extLst>
              <a:ext uri="{FF2B5EF4-FFF2-40B4-BE49-F238E27FC236}">
                <a16:creationId xmlns:a16="http://schemas.microsoft.com/office/drawing/2014/main" id="{78C889B4-A4CE-BDDC-F1E8-E965A64B51AC}"/>
              </a:ext>
            </a:extLst>
          </p:cNvPr>
          <p:cNvSpPr txBox="1"/>
          <p:nvPr/>
        </p:nvSpPr>
        <p:spPr>
          <a:xfrm>
            <a:off x="9329530" y="6139070"/>
            <a:ext cx="276970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aseline="0">
                <a:latin typeface="Times New Roman"/>
              </a:rPr>
              <a:t>Vishesh Goyal – </a:t>
            </a:r>
            <a:r>
              <a:rPr lang="en-US" sz="1600" u="sng" strike="noStrike" baseline="0" dirty="0">
                <a:solidFill>
                  <a:srgbClr val="467886"/>
                </a:solidFill>
                <a:latin typeface="Times New Roman"/>
                <a:ea typeface="Segoe UI"/>
                <a:cs typeface="Segoe UI"/>
                <a:hlinkClick r:id="rId4"/>
              </a:rPr>
              <a:t>VisheshVerse</a:t>
            </a:r>
            <a:r>
              <a:rPr sz="1600">
                <a:latin typeface="Calibri"/>
                <a:ea typeface="Calibri"/>
                <a:cs typeface="Calibri"/>
              </a:rPr>
              <a:t>​</a:t>
            </a:r>
            <a:endParaRPr lang="en-US" sz="1600"/>
          </a:p>
        </p:txBody>
      </p:sp>
    </p:spTree>
    <p:extLst>
      <p:ext uri="{BB962C8B-B14F-4D97-AF65-F5344CB8AC3E}">
        <p14:creationId xmlns:p14="http://schemas.microsoft.com/office/powerpoint/2010/main" val="1842726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1FBE4-E319-50AA-0372-2A2572734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4939C-293F-1725-492B-6BDD36E07D51}"/>
              </a:ext>
            </a:extLst>
          </p:cNvPr>
          <p:cNvSpPr>
            <a:spLocks noGrp="1"/>
          </p:cNvSpPr>
          <p:nvPr>
            <p:ph type="title"/>
          </p:nvPr>
        </p:nvSpPr>
        <p:spPr/>
        <p:txBody>
          <a:bodyPr>
            <a:normAutofit/>
          </a:bodyPr>
          <a:lstStyle/>
          <a:p>
            <a:r>
              <a:rPr lang="en-US" sz="4800" dirty="0">
                <a:latin typeface="-webkit-standard"/>
                <a:cs typeface="Times New Roman"/>
              </a:rPr>
              <a:t>The Process</a:t>
            </a:r>
            <a:br>
              <a:rPr lang="en-US" sz="4800" dirty="0">
                <a:latin typeface="-webkit-standard"/>
                <a:cs typeface="Times New Roman"/>
              </a:rPr>
            </a:br>
            <a:r>
              <a:rPr lang="en-US" sz="3600">
                <a:latin typeface="-webkit-standard"/>
                <a:cs typeface="Times New Roman"/>
              </a:rPr>
              <a:t>Step 4 : Decision Logic</a:t>
            </a:r>
            <a:endParaRPr lang="en-US">
              <a:latin typeface="Aptos Display" panose="020F0302020204030204"/>
              <a:cs typeface="Times New Roman"/>
            </a:endParaRPr>
          </a:p>
        </p:txBody>
      </p:sp>
      <p:sp>
        <p:nvSpPr>
          <p:cNvPr id="3" name="Content Placeholder 2">
            <a:extLst>
              <a:ext uri="{FF2B5EF4-FFF2-40B4-BE49-F238E27FC236}">
                <a16:creationId xmlns:a16="http://schemas.microsoft.com/office/drawing/2014/main" id="{7997C289-B174-FE04-0A44-86EB271ADB71}"/>
              </a:ext>
            </a:extLst>
          </p:cNvPr>
          <p:cNvSpPr>
            <a:spLocks noGrp="1"/>
          </p:cNvSpPr>
          <p:nvPr>
            <p:ph idx="1"/>
          </p:nvPr>
        </p:nvSpPr>
        <p:spPr>
          <a:xfrm>
            <a:off x="838200" y="1958146"/>
            <a:ext cx="10508974" cy="4351338"/>
          </a:xfrm>
        </p:spPr>
        <p:txBody>
          <a:bodyPr vert="horz" lIns="91440" tIns="45720" rIns="91440" bIns="45720" rtlCol="0" anchor="t">
            <a:normAutofit/>
          </a:bodyPr>
          <a:lstStyle/>
          <a:p>
            <a:pPr>
              <a:buFont typeface="Arial,Sans-Serif"/>
              <a:buChar char="•"/>
            </a:pPr>
            <a:r>
              <a:rPr lang="en-US">
                <a:latin typeface="Times New Roman"/>
                <a:ea typeface="+mn-lt"/>
                <a:cs typeface="Times New Roman"/>
              </a:rPr>
              <a:t>Relevance below threshold → </a:t>
            </a:r>
            <a:r>
              <a:rPr lang="en-US" b="1">
                <a:latin typeface="Times New Roman"/>
                <a:ea typeface="+mn-lt"/>
                <a:cs typeface="Times New Roman"/>
              </a:rPr>
              <a:t>Insufficient</a:t>
            </a:r>
            <a:endParaRPr lang="en-US">
              <a:latin typeface="Times New Roman"/>
              <a:cs typeface="Times New Roman"/>
            </a:endParaRPr>
          </a:p>
          <a:p>
            <a:pPr>
              <a:buFont typeface="Arial,Sans-Serif"/>
              <a:buChar char="•"/>
            </a:pPr>
            <a:r>
              <a:rPr lang="en-US">
                <a:latin typeface="Times New Roman"/>
                <a:ea typeface="+mn-lt"/>
                <a:cs typeface="Times New Roman"/>
              </a:rPr>
              <a:t>Else if contradiction score high → </a:t>
            </a:r>
            <a:r>
              <a:rPr lang="en-US" b="1">
                <a:latin typeface="Times New Roman"/>
                <a:ea typeface="+mn-lt"/>
                <a:cs typeface="Times New Roman"/>
              </a:rPr>
              <a:t>Contradicted</a:t>
            </a:r>
            <a:endParaRPr lang="en-US">
              <a:latin typeface="Times New Roman"/>
              <a:cs typeface="Times New Roman"/>
            </a:endParaRPr>
          </a:p>
          <a:p>
            <a:pPr>
              <a:buFont typeface="Arial,Sans-Serif"/>
              <a:buChar char="•"/>
            </a:pPr>
            <a:r>
              <a:rPr lang="en-US">
                <a:latin typeface="Times New Roman"/>
                <a:ea typeface="+mn-lt"/>
                <a:cs typeface="Times New Roman"/>
              </a:rPr>
              <a:t>Else if support score high → </a:t>
            </a:r>
            <a:r>
              <a:rPr lang="en-US" b="1">
                <a:latin typeface="Times New Roman"/>
                <a:ea typeface="+mn-lt"/>
                <a:cs typeface="Times New Roman"/>
              </a:rPr>
              <a:t>Supported</a:t>
            </a:r>
            <a:endParaRPr lang="en-US">
              <a:latin typeface="Times New Roman"/>
              <a:cs typeface="Times New Roman"/>
            </a:endParaRPr>
          </a:p>
          <a:p>
            <a:pPr>
              <a:buFont typeface="Arial,Sans-Serif"/>
              <a:buChar char="•"/>
            </a:pPr>
            <a:r>
              <a:rPr lang="en-US">
                <a:latin typeface="Times New Roman"/>
                <a:ea typeface="+mn-lt"/>
                <a:cs typeface="Times New Roman"/>
              </a:rPr>
              <a:t>Else → </a:t>
            </a:r>
            <a:r>
              <a:rPr lang="en-US" b="1">
                <a:latin typeface="Times New Roman"/>
                <a:ea typeface="+mn-lt"/>
                <a:cs typeface="Times New Roman"/>
              </a:rPr>
              <a:t>Insufficient</a:t>
            </a:r>
            <a:r>
              <a:rPr lang="en-US">
                <a:latin typeface="Times New Roman"/>
                <a:ea typeface="+mn-lt"/>
                <a:cs typeface="Times New Roman"/>
              </a:rPr>
              <a:t> (conservative fallback, by design)</a:t>
            </a:r>
          </a:p>
          <a:p>
            <a:pPr>
              <a:buFont typeface="Arial,Sans-Serif"/>
              <a:buChar char="•"/>
            </a:pPr>
            <a:r>
              <a:rPr lang="en-US">
                <a:latin typeface="Times New Roman"/>
                <a:ea typeface="+mn-lt"/>
                <a:cs typeface="Times New Roman"/>
              </a:rPr>
              <a:t>Temporal claims (age/date) → handled via deterministic arithmetic, not NLI</a:t>
            </a:r>
            <a:endParaRPr lang="en-US">
              <a:latin typeface="Times New Roman"/>
              <a:cs typeface="Times New Roman"/>
            </a:endParaRPr>
          </a:p>
          <a:p>
            <a:pPr>
              <a:buFont typeface="Arial"/>
              <a:buChar char="•"/>
            </a:pPr>
            <a:endParaRPr lang="en-US" dirty="0">
              <a:latin typeface="Times New Roman"/>
              <a:cs typeface="Times New Roman"/>
            </a:endParaRPr>
          </a:p>
        </p:txBody>
      </p:sp>
      <p:sp>
        <p:nvSpPr>
          <p:cNvPr id="5" name="TextBox 4">
            <a:extLst>
              <a:ext uri="{FF2B5EF4-FFF2-40B4-BE49-F238E27FC236}">
                <a16:creationId xmlns:a16="http://schemas.microsoft.com/office/drawing/2014/main" id="{6BFCE751-B4AE-9854-B38E-0252F6DF1A1F}"/>
              </a:ext>
            </a:extLst>
          </p:cNvPr>
          <p:cNvSpPr txBox="1"/>
          <p:nvPr/>
        </p:nvSpPr>
        <p:spPr>
          <a:xfrm>
            <a:off x="9329530" y="6139070"/>
            <a:ext cx="276970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aseline="0">
                <a:latin typeface="Times New Roman"/>
              </a:rPr>
              <a:t>Vishesh Goyal – </a:t>
            </a:r>
            <a:r>
              <a:rPr lang="en-US" sz="1600" u="sng" strike="noStrike" baseline="0" dirty="0">
                <a:solidFill>
                  <a:srgbClr val="467886"/>
                </a:solidFill>
                <a:latin typeface="Times New Roman"/>
                <a:ea typeface="Segoe UI"/>
                <a:cs typeface="Segoe UI"/>
                <a:hlinkClick r:id="rId3"/>
              </a:rPr>
              <a:t>VisheshVerse</a:t>
            </a:r>
            <a:r>
              <a:rPr sz="1600">
                <a:latin typeface="Calibri"/>
                <a:ea typeface="Calibri"/>
                <a:cs typeface="Calibri"/>
              </a:rPr>
              <a:t>​</a:t>
            </a:r>
            <a:endParaRPr lang="en-US" sz="1600"/>
          </a:p>
        </p:txBody>
      </p:sp>
    </p:spTree>
    <p:extLst>
      <p:ext uri="{BB962C8B-B14F-4D97-AF65-F5344CB8AC3E}">
        <p14:creationId xmlns:p14="http://schemas.microsoft.com/office/powerpoint/2010/main" val="2247999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C7063-7508-9E95-485A-0F8C408D1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DC781-8844-BE80-65C0-1F8063C136DE}"/>
              </a:ext>
            </a:extLst>
          </p:cNvPr>
          <p:cNvSpPr>
            <a:spLocks noGrp="1"/>
          </p:cNvSpPr>
          <p:nvPr>
            <p:ph type="title"/>
          </p:nvPr>
        </p:nvSpPr>
        <p:spPr/>
        <p:txBody>
          <a:bodyPr>
            <a:normAutofit/>
          </a:bodyPr>
          <a:lstStyle/>
          <a:p>
            <a:r>
              <a:rPr lang="en-US" sz="4800" dirty="0">
                <a:latin typeface="-webkit-standard"/>
                <a:cs typeface="Times New Roman"/>
              </a:rPr>
              <a:t>The Process</a:t>
            </a:r>
            <a:br>
              <a:rPr lang="en-US" sz="4800" dirty="0">
                <a:latin typeface="-webkit-standard"/>
                <a:cs typeface="Times New Roman"/>
              </a:rPr>
            </a:br>
            <a:r>
              <a:rPr lang="en-US" sz="3600">
                <a:latin typeface="-webkit-standard"/>
                <a:cs typeface="Times New Roman"/>
              </a:rPr>
              <a:t>Step 5 : Answer </a:t>
            </a:r>
            <a:r>
              <a:rPr lang="en-US" sz="3600" dirty="0" err="1">
                <a:latin typeface="-webkit-standard"/>
                <a:cs typeface="Times New Roman"/>
              </a:rPr>
              <a:t>Synthesi</a:t>
            </a:r>
            <a:r>
              <a:rPr lang="en-US" sz="3600" dirty="0">
                <a:latin typeface="-webkit-standard"/>
                <a:cs typeface="Times New Roman"/>
              </a:rPr>
              <a:t>s</a:t>
            </a:r>
          </a:p>
        </p:txBody>
      </p:sp>
      <p:sp>
        <p:nvSpPr>
          <p:cNvPr id="3" name="Content Placeholder 2">
            <a:extLst>
              <a:ext uri="{FF2B5EF4-FFF2-40B4-BE49-F238E27FC236}">
                <a16:creationId xmlns:a16="http://schemas.microsoft.com/office/drawing/2014/main" id="{D7F82769-67E9-559B-7499-3EEDE65804DF}"/>
              </a:ext>
            </a:extLst>
          </p:cNvPr>
          <p:cNvSpPr>
            <a:spLocks noGrp="1"/>
          </p:cNvSpPr>
          <p:nvPr>
            <p:ph idx="1"/>
          </p:nvPr>
        </p:nvSpPr>
        <p:spPr>
          <a:xfrm>
            <a:off x="838200" y="1958146"/>
            <a:ext cx="10508974" cy="4351338"/>
          </a:xfrm>
        </p:spPr>
        <p:txBody>
          <a:bodyPr vert="horz" lIns="91440" tIns="45720" rIns="91440" bIns="45720" rtlCol="0" anchor="t">
            <a:normAutofit/>
          </a:bodyPr>
          <a:lstStyle/>
          <a:p>
            <a:pPr>
              <a:buFont typeface="Arial,Sans-Serif"/>
              <a:buChar char="•"/>
            </a:pPr>
            <a:r>
              <a:rPr lang="en-US">
                <a:latin typeface="Times New Roman"/>
                <a:ea typeface="+mn-lt"/>
                <a:cs typeface="Times New Roman"/>
              </a:rPr>
              <a:t>Supported → kept as-is</a:t>
            </a:r>
            <a:endParaRPr lang="en-US">
              <a:latin typeface="Times New Roman"/>
              <a:cs typeface="Times New Roman"/>
            </a:endParaRPr>
          </a:p>
          <a:p>
            <a:pPr>
              <a:buFont typeface="Arial,Sans-Serif"/>
              <a:buChar char="•"/>
            </a:pPr>
            <a:r>
              <a:rPr lang="en-US">
                <a:latin typeface="Times New Roman"/>
                <a:ea typeface="+mn-lt"/>
                <a:cs typeface="Times New Roman"/>
              </a:rPr>
              <a:t>Contradicted → repaired using best evidence + correction templates</a:t>
            </a:r>
            <a:endParaRPr lang="en-US">
              <a:latin typeface="Times New Roman"/>
              <a:cs typeface="Times New Roman"/>
            </a:endParaRPr>
          </a:p>
          <a:p>
            <a:pPr>
              <a:buFont typeface="Arial,Sans-Serif"/>
              <a:buChar char="•"/>
            </a:pPr>
            <a:r>
              <a:rPr lang="en-US">
                <a:latin typeface="Times New Roman"/>
                <a:ea typeface="+mn-lt"/>
                <a:cs typeface="Times New Roman"/>
              </a:rPr>
              <a:t>Insufficient evidence → hedged or omitted</a:t>
            </a:r>
            <a:endParaRPr lang="en-US">
              <a:latin typeface="Times New Roman"/>
              <a:cs typeface="Times New Roman"/>
            </a:endParaRPr>
          </a:p>
          <a:p>
            <a:pPr>
              <a:buFont typeface="Arial,Sans-Serif"/>
              <a:buChar char="•"/>
            </a:pPr>
            <a:r>
              <a:rPr lang="en-US">
                <a:latin typeface="Times New Roman"/>
                <a:ea typeface="+mn-lt"/>
                <a:cs typeface="Times New Roman"/>
              </a:rPr>
              <a:t>Non-checkable → passed through unchanged</a:t>
            </a:r>
            <a:endParaRPr lang="en-US">
              <a:latin typeface="Times New Roman"/>
              <a:cs typeface="Times New Roman"/>
            </a:endParaRPr>
          </a:p>
          <a:p>
            <a:pPr>
              <a:buFont typeface="Arial,Sans-Serif"/>
              <a:buChar char="•"/>
            </a:pPr>
            <a:r>
              <a:rPr lang="en-US">
                <a:latin typeface="Times New Roman"/>
                <a:ea typeface="+mn-lt"/>
                <a:cs typeface="Times New Roman"/>
              </a:rPr>
              <a:t>Deterministic = no secondary hallucination</a:t>
            </a:r>
            <a:endParaRPr lang="en-US">
              <a:latin typeface="Times New Roman"/>
              <a:cs typeface="Times New Roman"/>
            </a:endParaRPr>
          </a:p>
          <a:p>
            <a:pPr>
              <a:buFont typeface="Arial,Sans-Serif"/>
              <a:buChar char="•"/>
            </a:pPr>
            <a:endParaRPr lang="en-US" dirty="0">
              <a:latin typeface="Times New Roman"/>
              <a:cs typeface="Times New Roman"/>
            </a:endParaRPr>
          </a:p>
          <a:p>
            <a:pPr>
              <a:buFont typeface="Arial"/>
              <a:buChar char="•"/>
            </a:pPr>
            <a:endParaRPr lang="en-US" dirty="0">
              <a:latin typeface="Times New Roman"/>
              <a:cs typeface="Times New Roman"/>
            </a:endParaRPr>
          </a:p>
        </p:txBody>
      </p:sp>
      <p:sp>
        <p:nvSpPr>
          <p:cNvPr id="5" name="TextBox 4">
            <a:extLst>
              <a:ext uri="{FF2B5EF4-FFF2-40B4-BE49-F238E27FC236}">
                <a16:creationId xmlns:a16="http://schemas.microsoft.com/office/drawing/2014/main" id="{2D8B238F-BDB2-F821-ED51-2FEE2B50D2D2}"/>
              </a:ext>
            </a:extLst>
          </p:cNvPr>
          <p:cNvSpPr txBox="1"/>
          <p:nvPr/>
        </p:nvSpPr>
        <p:spPr>
          <a:xfrm>
            <a:off x="9329530" y="6139070"/>
            <a:ext cx="276970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aseline="0">
                <a:latin typeface="Times New Roman"/>
              </a:rPr>
              <a:t>Vishesh Goyal – </a:t>
            </a:r>
            <a:r>
              <a:rPr lang="en-US" sz="1600" u="sng" strike="noStrike" baseline="0" dirty="0">
                <a:solidFill>
                  <a:srgbClr val="467886"/>
                </a:solidFill>
                <a:latin typeface="Times New Roman"/>
                <a:ea typeface="Segoe UI"/>
                <a:cs typeface="Segoe UI"/>
                <a:hlinkClick r:id="rId3"/>
              </a:rPr>
              <a:t>VisheshVerse</a:t>
            </a:r>
            <a:r>
              <a:rPr sz="1600">
                <a:latin typeface="Calibri"/>
                <a:ea typeface="Calibri"/>
                <a:cs typeface="Calibri"/>
              </a:rPr>
              <a:t>​</a:t>
            </a:r>
            <a:endParaRPr lang="en-US" sz="1600"/>
          </a:p>
        </p:txBody>
      </p:sp>
    </p:spTree>
    <p:extLst>
      <p:ext uri="{BB962C8B-B14F-4D97-AF65-F5344CB8AC3E}">
        <p14:creationId xmlns:p14="http://schemas.microsoft.com/office/powerpoint/2010/main" val="3939859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3AB1E-423B-D26A-4C8F-38E0425FA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FEB42-7A79-D638-FD57-34AF9FB452C1}"/>
              </a:ext>
            </a:extLst>
          </p:cNvPr>
          <p:cNvSpPr>
            <a:spLocks noGrp="1"/>
          </p:cNvSpPr>
          <p:nvPr>
            <p:ph type="title"/>
          </p:nvPr>
        </p:nvSpPr>
        <p:spPr/>
        <p:txBody>
          <a:bodyPr>
            <a:normAutofit/>
          </a:bodyPr>
          <a:lstStyle/>
          <a:p>
            <a:r>
              <a:rPr lang="en-US" sz="4800">
                <a:latin typeface="-webkit-standard"/>
                <a:cs typeface="Times New Roman"/>
              </a:rPr>
              <a:t>The Experimental Setup</a:t>
            </a:r>
            <a:endParaRPr lang="en-US" sz="3600">
              <a:latin typeface="-webkit-standard"/>
              <a:cs typeface="Times New Roman"/>
            </a:endParaRPr>
          </a:p>
        </p:txBody>
      </p:sp>
      <p:sp>
        <p:nvSpPr>
          <p:cNvPr id="3" name="Content Placeholder 2">
            <a:extLst>
              <a:ext uri="{FF2B5EF4-FFF2-40B4-BE49-F238E27FC236}">
                <a16:creationId xmlns:a16="http://schemas.microsoft.com/office/drawing/2014/main" id="{2766A221-318C-4C60-9804-ADB20D73A25B}"/>
              </a:ext>
            </a:extLst>
          </p:cNvPr>
          <p:cNvSpPr>
            <a:spLocks noGrp="1"/>
          </p:cNvSpPr>
          <p:nvPr>
            <p:ph idx="1"/>
          </p:nvPr>
        </p:nvSpPr>
        <p:spPr>
          <a:xfrm>
            <a:off x="838200" y="1958146"/>
            <a:ext cx="10508974" cy="4351338"/>
          </a:xfrm>
        </p:spPr>
        <p:txBody>
          <a:bodyPr vert="horz" lIns="91440" tIns="45720" rIns="91440" bIns="45720" rtlCol="0" anchor="t">
            <a:normAutofit/>
          </a:bodyPr>
          <a:lstStyle/>
          <a:p>
            <a:pPr>
              <a:buFont typeface="Arial"/>
              <a:buChar char="•"/>
            </a:pPr>
            <a:r>
              <a:rPr lang="en-US" dirty="0">
                <a:latin typeface="Times New Roman"/>
                <a:ea typeface="+mn-lt"/>
                <a:cs typeface="Times New Roman"/>
              </a:rPr>
              <a:t>3 models tested: IBM Granite, Meta Llama, </a:t>
            </a:r>
            <a:r>
              <a:rPr lang="en-US" dirty="0" err="1">
                <a:latin typeface="Times New Roman"/>
                <a:ea typeface="+mn-lt"/>
                <a:cs typeface="Times New Roman"/>
              </a:rPr>
              <a:t>MistralAI</a:t>
            </a:r>
            <a:r>
              <a:rPr lang="en-US" dirty="0">
                <a:latin typeface="Times New Roman"/>
                <a:ea typeface="+mn-lt"/>
                <a:cs typeface="Times New Roman"/>
              </a:rPr>
              <a:t> Mistral</a:t>
            </a:r>
            <a:endParaRPr lang="en-US" dirty="0">
              <a:latin typeface="Times New Roman"/>
              <a:cs typeface="Times New Roman"/>
            </a:endParaRPr>
          </a:p>
          <a:p>
            <a:pPr>
              <a:buFont typeface="Arial"/>
              <a:buChar char="•"/>
            </a:pPr>
            <a:r>
              <a:rPr lang="en-US">
                <a:latin typeface="Times New Roman"/>
                <a:ea typeface="+mn-lt"/>
                <a:cs typeface="Times New Roman"/>
              </a:rPr>
              <a:t>Same system prompt, same constraints, same question set</a:t>
            </a:r>
            <a:endParaRPr lang="en-US">
              <a:latin typeface="Times New Roman"/>
              <a:cs typeface="Times New Roman"/>
            </a:endParaRPr>
          </a:p>
          <a:p>
            <a:pPr>
              <a:buFont typeface="Arial"/>
              <a:buChar char="•"/>
            </a:pPr>
            <a:r>
              <a:rPr lang="en-US">
                <a:latin typeface="Times New Roman"/>
                <a:ea typeface="+mn-lt"/>
                <a:cs typeface="Times New Roman"/>
              </a:rPr>
              <a:t>No fine-tuning, no model-specific tweaking</a:t>
            </a:r>
            <a:endParaRPr lang="en-US">
              <a:latin typeface="Times New Roman"/>
              <a:cs typeface="Times New Roman"/>
            </a:endParaRPr>
          </a:p>
          <a:p>
            <a:pPr>
              <a:buFont typeface="Arial"/>
              <a:buChar char="•"/>
            </a:pPr>
            <a:r>
              <a:rPr lang="en-US">
                <a:latin typeface="Times New Roman"/>
                <a:ea typeface="+mn-lt"/>
                <a:cs typeface="Times New Roman"/>
              </a:rPr>
              <a:t>Controlled comparison → differences reflect model behavior, not bias</a:t>
            </a:r>
            <a:endParaRPr lang="en-US">
              <a:latin typeface="Times New Roman"/>
              <a:cs typeface="Times New Roman"/>
            </a:endParaRPr>
          </a:p>
        </p:txBody>
      </p:sp>
      <p:sp>
        <p:nvSpPr>
          <p:cNvPr id="5" name="TextBox 4">
            <a:extLst>
              <a:ext uri="{FF2B5EF4-FFF2-40B4-BE49-F238E27FC236}">
                <a16:creationId xmlns:a16="http://schemas.microsoft.com/office/drawing/2014/main" id="{BD1E9E0F-278B-FEC9-FD0A-79C7C0735565}"/>
              </a:ext>
            </a:extLst>
          </p:cNvPr>
          <p:cNvSpPr txBox="1"/>
          <p:nvPr/>
        </p:nvSpPr>
        <p:spPr>
          <a:xfrm>
            <a:off x="9329530" y="6139070"/>
            <a:ext cx="276970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aseline="0">
                <a:latin typeface="Times New Roman"/>
              </a:rPr>
              <a:t>Vishesh Goyal – </a:t>
            </a:r>
            <a:r>
              <a:rPr lang="en-US" sz="1600" u="sng" strike="noStrike" baseline="0" dirty="0">
                <a:solidFill>
                  <a:srgbClr val="467886"/>
                </a:solidFill>
                <a:latin typeface="Times New Roman"/>
                <a:ea typeface="Segoe UI"/>
                <a:cs typeface="Segoe UI"/>
                <a:hlinkClick r:id="rId3"/>
              </a:rPr>
              <a:t>VisheshVerse</a:t>
            </a:r>
            <a:r>
              <a:rPr sz="1600">
                <a:latin typeface="Calibri"/>
                <a:ea typeface="Calibri"/>
                <a:cs typeface="Calibri"/>
              </a:rPr>
              <a:t>​</a:t>
            </a:r>
            <a:endParaRPr lang="en-US" sz="1600"/>
          </a:p>
        </p:txBody>
      </p:sp>
    </p:spTree>
    <p:extLst>
      <p:ext uri="{BB962C8B-B14F-4D97-AF65-F5344CB8AC3E}">
        <p14:creationId xmlns:p14="http://schemas.microsoft.com/office/powerpoint/2010/main" val="637257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A9BBD-B0DC-4596-7CA1-14417E17B9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1B84DD-8214-FDA8-E3E9-B8C666D8226E}"/>
              </a:ext>
            </a:extLst>
          </p:cNvPr>
          <p:cNvSpPr>
            <a:spLocks noGrp="1"/>
          </p:cNvSpPr>
          <p:nvPr>
            <p:ph type="title"/>
          </p:nvPr>
        </p:nvSpPr>
        <p:spPr/>
        <p:txBody>
          <a:bodyPr>
            <a:normAutofit/>
          </a:bodyPr>
          <a:lstStyle/>
          <a:p>
            <a:r>
              <a:rPr lang="en-US" sz="4800">
                <a:latin typeface="-webkit-standard"/>
                <a:cs typeface="Times New Roman"/>
              </a:rPr>
              <a:t>The Results</a:t>
            </a:r>
            <a:endParaRPr lang="en-US"/>
          </a:p>
        </p:txBody>
      </p:sp>
      <p:pic>
        <p:nvPicPr>
          <p:cNvPr id="4" name="Content Placeholder 3">
            <a:extLst>
              <a:ext uri="{FF2B5EF4-FFF2-40B4-BE49-F238E27FC236}">
                <a16:creationId xmlns:a16="http://schemas.microsoft.com/office/drawing/2014/main" id="{15F83C17-1882-5313-EEB6-AEBDA4C5F5B2}"/>
              </a:ext>
            </a:extLst>
          </p:cNvPr>
          <p:cNvPicPr>
            <a:picLocks noGrp="1" noChangeAspect="1"/>
          </p:cNvPicPr>
          <p:nvPr>
            <p:ph idx="1"/>
          </p:nvPr>
        </p:nvPicPr>
        <p:blipFill>
          <a:blip r:embed="rId3"/>
          <a:stretch>
            <a:fillRect/>
          </a:stretch>
        </p:blipFill>
        <p:spPr>
          <a:xfrm>
            <a:off x="434009" y="1508876"/>
            <a:ext cx="10780643" cy="3540347"/>
          </a:xfrm>
          <a:prstGeom prst="rect">
            <a:avLst/>
          </a:prstGeom>
        </p:spPr>
      </p:pic>
      <p:sp>
        <p:nvSpPr>
          <p:cNvPr id="5" name="TextBox 4">
            <a:extLst>
              <a:ext uri="{FF2B5EF4-FFF2-40B4-BE49-F238E27FC236}">
                <a16:creationId xmlns:a16="http://schemas.microsoft.com/office/drawing/2014/main" id="{C1CF2CEC-A33F-E685-07CB-C8F08CCDCD50}"/>
              </a:ext>
            </a:extLst>
          </p:cNvPr>
          <p:cNvSpPr txBox="1"/>
          <p:nvPr/>
        </p:nvSpPr>
        <p:spPr>
          <a:xfrm>
            <a:off x="9329530" y="6139070"/>
            <a:ext cx="276970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aseline="0">
                <a:latin typeface="Times New Roman"/>
              </a:rPr>
              <a:t>Vishesh Goyal – </a:t>
            </a:r>
            <a:r>
              <a:rPr lang="en-US" sz="1600" u="sng" strike="noStrike" baseline="0" dirty="0">
                <a:solidFill>
                  <a:srgbClr val="467886"/>
                </a:solidFill>
                <a:latin typeface="Times New Roman"/>
                <a:ea typeface="Segoe UI"/>
                <a:cs typeface="Segoe UI"/>
                <a:hlinkClick r:id="rId4"/>
              </a:rPr>
              <a:t>VisheshVerse</a:t>
            </a:r>
            <a:r>
              <a:rPr sz="1600">
                <a:latin typeface="Calibri"/>
                <a:ea typeface="Calibri"/>
                <a:cs typeface="Calibri"/>
              </a:rPr>
              <a:t>​</a:t>
            </a:r>
            <a:endParaRPr lang="en-US" sz="1600"/>
          </a:p>
        </p:txBody>
      </p:sp>
    </p:spTree>
    <p:extLst>
      <p:ext uri="{BB962C8B-B14F-4D97-AF65-F5344CB8AC3E}">
        <p14:creationId xmlns:p14="http://schemas.microsoft.com/office/powerpoint/2010/main" val="1784939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481A2-AE0E-46DF-0332-DB5A264AE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065DDD-78D0-AD60-D9A5-33EF240BE7F3}"/>
              </a:ext>
            </a:extLst>
          </p:cNvPr>
          <p:cNvSpPr>
            <a:spLocks noGrp="1"/>
          </p:cNvSpPr>
          <p:nvPr>
            <p:ph type="title"/>
          </p:nvPr>
        </p:nvSpPr>
        <p:spPr/>
        <p:txBody>
          <a:bodyPr>
            <a:normAutofit/>
          </a:bodyPr>
          <a:lstStyle/>
          <a:p>
            <a:r>
              <a:rPr lang="en-US" sz="4800">
                <a:latin typeface="-webkit-standard"/>
                <a:cs typeface="Times New Roman"/>
              </a:rPr>
              <a:t>The Necessity of Each Step</a:t>
            </a:r>
            <a:endParaRPr lang="en-US"/>
          </a:p>
        </p:txBody>
      </p:sp>
      <p:sp>
        <p:nvSpPr>
          <p:cNvPr id="5" name="TextBox 4">
            <a:extLst>
              <a:ext uri="{FF2B5EF4-FFF2-40B4-BE49-F238E27FC236}">
                <a16:creationId xmlns:a16="http://schemas.microsoft.com/office/drawing/2014/main" id="{B451E31D-19DA-B4CD-77C5-83B4339CF9CD}"/>
              </a:ext>
            </a:extLst>
          </p:cNvPr>
          <p:cNvSpPr txBox="1"/>
          <p:nvPr/>
        </p:nvSpPr>
        <p:spPr>
          <a:xfrm>
            <a:off x="9329530" y="6139070"/>
            <a:ext cx="276970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aseline="0">
                <a:latin typeface="Times New Roman"/>
              </a:rPr>
              <a:t>Vishesh Goyal – </a:t>
            </a:r>
            <a:r>
              <a:rPr lang="en-US" sz="1600" u="sng" strike="noStrike" baseline="0" dirty="0">
                <a:solidFill>
                  <a:srgbClr val="467886"/>
                </a:solidFill>
                <a:latin typeface="Times New Roman"/>
                <a:ea typeface="Segoe UI"/>
                <a:cs typeface="Segoe UI"/>
                <a:hlinkClick r:id="rId3"/>
              </a:rPr>
              <a:t>VisheshVerse</a:t>
            </a:r>
            <a:r>
              <a:rPr sz="1600">
                <a:latin typeface="Calibri"/>
                <a:ea typeface="Calibri"/>
                <a:cs typeface="Calibri"/>
              </a:rPr>
              <a:t>​</a:t>
            </a:r>
            <a:endParaRPr lang="en-US" sz="1600"/>
          </a:p>
        </p:txBody>
      </p:sp>
      <p:sp>
        <p:nvSpPr>
          <p:cNvPr id="6" name="Content Placeholder 5">
            <a:extLst>
              <a:ext uri="{FF2B5EF4-FFF2-40B4-BE49-F238E27FC236}">
                <a16:creationId xmlns:a16="http://schemas.microsoft.com/office/drawing/2014/main" id="{1A5D3BCE-140C-01B8-823C-0DE9EC9C8A5C}"/>
              </a:ext>
            </a:extLst>
          </p:cNvPr>
          <p:cNvSpPr>
            <a:spLocks noGrp="1"/>
          </p:cNvSpPr>
          <p:nvPr>
            <p:ph idx="1"/>
          </p:nvPr>
        </p:nvSpPr>
        <p:spPr/>
        <p:txBody>
          <a:bodyPr vert="horz" lIns="91440" tIns="45720" rIns="91440" bIns="45720" rtlCol="0" anchor="t">
            <a:normAutofit/>
          </a:bodyPr>
          <a:lstStyle/>
          <a:p>
            <a:r>
              <a:rPr lang="en-US">
                <a:latin typeface="-webkit-standard"/>
              </a:rPr>
              <a:t>Every component adds real value. No single piece does it alone</a:t>
            </a:r>
            <a:endParaRPr lang="en-US"/>
          </a:p>
        </p:txBody>
      </p:sp>
      <p:pic>
        <p:nvPicPr>
          <p:cNvPr id="7" name="Picture 6">
            <a:extLst>
              <a:ext uri="{FF2B5EF4-FFF2-40B4-BE49-F238E27FC236}">
                <a16:creationId xmlns:a16="http://schemas.microsoft.com/office/drawing/2014/main" id="{732B6686-80D2-E5C7-DBC5-64D59B8F1665}"/>
              </a:ext>
            </a:extLst>
          </p:cNvPr>
          <p:cNvPicPr>
            <a:picLocks noChangeAspect="1"/>
          </p:cNvPicPr>
          <p:nvPr/>
        </p:nvPicPr>
        <p:blipFill>
          <a:blip r:embed="rId4"/>
          <a:stretch>
            <a:fillRect/>
          </a:stretch>
        </p:blipFill>
        <p:spPr>
          <a:xfrm>
            <a:off x="323850" y="2355988"/>
            <a:ext cx="11544300" cy="3524250"/>
          </a:xfrm>
          <a:prstGeom prst="rect">
            <a:avLst/>
          </a:prstGeom>
        </p:spPr>
      </p:pic>
    </p:spTree>
    <p:extLst>
      <p:ext uri="{BB962C8B-B14F-4D97-AF65-F5344CB8AC3E}">
        <p14:creationId xmlns:p14="http://schemas.microsoft.com/office/powerpoint/2010/main" val="66312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B6064-A223-12D9-FD23-0355FF00E3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67FD2-2477-483B-BFE5-D099A8DEA2B2}"/>
              </a:ext>
            </a:extLst>
          </p:cNvPr>
          <p:cNvSpPr>
            <a:spLocks noGrp="1"/>
          </p:cNvSpPr>
          <p:nvPr>
            <p:ph type="title"/>
          </p:nvPr>
        </p:nvSpPr>
        <p:spPr/>
        <p:txBody>
          <a:bodyPr>
            <a:normAutofit fontScale="90000"/>
          </a:bodyPr>
          <a:lstStyle/>
          <a:p>
            <a:r>
              <a:rPr lang="en-US" sz="4800">
                <a:latin typeface="-webkit-standard"/>
                <a:cs typeface="Times New Roman"/>
              </a:rPr>
              <a:t>The Identified Limitations and the Future Scope</a:t>
            </a:r>
            <a:endParaRPr lang="en-US"/>
          </a:p>
        </p:txBody>
      </p:sp>
      <p:sp>
        <p:nvSpPr>
          <p:cNvPr id="5" name="TextBox 4">
            <a:extLst>
              <a:ext uri="{FF2B5EF4-FFF2-40B4-BE49-F238E27FC236}">
                <a16:creationId xmlns:a16="http://schemas.microsoft.com/office/drawing/2014/main" id="{1A94FF85-5F39-2B7A-FB87-345DF0206817}"/>
              </a:ext>
            </a:extLst>
          </p:cNvPr>
          <p:cNvSpPr txBox="1"/>
          <p:nvPr/>
        </p:nvSpPr>
        <p:spPr>
          <a:xfrm>
            <a:off x="9329530" y="6139070"/>
            <a:ext cx="276970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aseline="0">
                <a:latin typeface="Times New Roman"/>
              </a:rPr>
              <a:t>Vishesh Goyal – </a:t>
            </a:r>
            <a:r>
              <a:rPr lang="en-US" sz="1600" u="sng" strike="noStrike" baseline="0" dirty="0">
                <a:solidFill>
                  <a:srgbClr val="467886"/>
                </a:solidFill>
                <a:latin typeface="Times New Roman"/>
                <a:ea typeface="Segoe UI"/>
                <a:cs typeface="Segoe UI"/>
                <a:hlinkClick r:id="rId3"/>
              </a:rPr>
              <a:t>VisheshVerse</a:t>
            </a:r>
            <a:r>
              <a:rPr sz="1600">
                <a:latin typeface="Calibri"/>
                <a:ea typeface="Calibri"/>
                <a:cs typeface="Calibri"/>
              </a:rPr>
              <a:t>​</a:t>
            </a:r>
            <a:endParaRPr lang="en-US" sz="1600"/>
          </a:p>
        </p:txBody>
      </p:sp>
      <p:sp>
        <p:nvSpPr>
          <p:cNvPr id="6" name="Content Placeholder 5">
            <a:extLst>
              <a:ext uri="{FF2B5EF4-FFF2-40B4-BE49-F238E27FC236}">
                <a16:creationId xmlns:a16="http://schemas.microsoft.com/office/drawing/2014/main" id="{DED1F6C4-EE6C-2108-FC3E-C6A78E3D304D}"/>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Times New Roman"/>
              </a:rPr>
              <a:t>Weak retrieval on niche topics</a:t>
            </a:r>
            <a:endParaRPr lang="en-US">
              <a:latin typeface="Times New Roman"/>
              <a:cs typeface="Times New Roman"/>
            </a:endParaRPr>
          </a:p>
          <a:p>
            <a:r>
              <a:rPr lang="en-US">
                <a:latin typeface="Times New Roman"/>
                <a:ea typeface="+mn-lt"/>
                <a:cs typeface="Times New Roman"/>
              </a:rPr>
              <a:t>Multi-hop reasoning claims </a:t>
            </a:r>
          </a:p>
          <a:p>
            <a:r>
              <a:rPr lang="en-US">
                <a:latin typeface="Times New Roman"/>
                <a:ea typeface="+mn-lt"/>
                <a:cs typeface="Times New Roman"/>
              </a:rPr>
              <a:t>Borderline subjective questions → occasional false contradictions</a:t>
            </a:r>
            <a:endParaRPr lang="en-US">
              <a:latin typeface="Times New Roman"/>
              <a:cs typeface="Times New Roman"/>
            </a:endParaRPr>
          </a:p>
          <a:p>
            <a:r>
              <a:rPr lang="en-US">
                <a:latin typeface="Times New Roman"/>
                <a:ea typeface="+mn-lt"/>
                <a:cs typeface="Times New Roman"/>
              </a:rPr>
              <a:t>Wikipedia-only → coverage ceiling on recent/contested topics</a:t>
            </a:r>
            <a:endParaRPr lang="en-US">
              <a:latin typeface="Times New Roman"/>
              <a:cs typeface="Times New Roman"/>
            </a:endParaRPr>
          </a:p>
        </p:txBody>
      </p:sp>
    </p:spTree>
    <p:extLst>
      <p:ext uri="{BB962C8B-B14F-4D97-AF65-F5344CB8AC3E}">
        <p14:creationId xmlns:p14="http://schemas.microsoft.com/office/powerpoint/2010/main" val="37572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B9F19-1065-3049-C406-A536E1432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27E68-E8D2-CF75-B63E-0E253082FB9E}"/>
              </a:ext>
            </a:extLst>
          </p:cNvPr>
          <p:cNvSpPr>
            <a:spLocks noGrp="1"/>
          </p:cNvSpPr>
          <p:nvPr>
            <p:ph type="title"/>
          </p:nvPr>
        </p:nvSpPr>
        <p:spPr/>
        <p:txBody>
          <a:bodyPr>
            <a:normAutofit/>
          </a:bodyPr>
          <a:lstStyle/>
          <a:p>
            <a:r>
              <a:rPr lang="en-US" sz="4800">
                <a:latin typeface="-webkit-standard"/>
                <a:cs typeface="Times New Roman"/>
              </a:rPr>
              <a:t>Conclusion</a:t>
            </a:r>
            <a:endParaRPr lang="en-US"/>
          </a:p>
        </p:txBody>
      </p:sp>
      <p:sp>
        <p:nvSpPr>
          <p:cNvPr id="5" name="TextBox 4">
            <a:extLst>
              <a:ext uri="{FF2B5EF4-FFF2-40B4-BE49-F238E27FC236}">
                <a16:creationId xmlns:a16="http://schemas.microsoft.com/office/drawing/2014/main" id="{EE86F0C6-9D9B-B9D2-7F64-5A8B5B9D1569}"/>
              </a:ext>
            </a:extLst>
          </p:cNvPr>
          <p:cNvSpPr txBox="1"/>
          <p:nvPr/>
        </p:nvSpPr>
        <p:spPr>
          <a:xfrm>
            <a:off x="9329530" y="6139070"/>
            <a:ext cx="276970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aseline="0">
                <a:latin typeface="Times New Roman"/>
              </a:rPr>
              <a:t>Vishesh Goyal – </a:t>
            </a:r>
            <a:r>
              <a:rPr lang="en-US" sz="1600" u="sng" strike="noStrike" baseline="0" dirty="0">
                <a:solidFill>
                  <a:srgbClr val="467886"/>
                </a:solidFill>
                <a:latin typeface="Times New Roman"/>
                <a:ea typeface="Segoe UI"/>
                <a:cs typeface="Segoe UI"/>
                <a:hlinkClick r:id="rId3"/>
              </a:rPr>
              <a:t>VisheshVerse</a:t>
            </a:r>
            <a:r>
              <a:rPr sz="1600">
                <a:latin typeface="Calibri"/>
                <a:ea typeface="Calibri"/>
                <a:cs typeface="Calibri"/>
              </a:rPr>
              <a:t>​</a:t>
            </a:r>
            <a:endParaRPr lang="en-US" sz="1600"/>
          </a:p>
        </p:txBody>
      </p:sp>
      <p:sp>
        <p:nvSpPr>
          <p:cNvPr id="6" name="Content Placeholder 5">
            <a:extLst>
              <a:ext uri="{FF2B5EF4-FFF2-40B4-BE49-F238E27FC236}">
                <a16:creationId xmlns:a16="http://schemas.microsoft.com/office/drawing/2014/main" id="{9E173D83-88B5-B364-867F-C63CAC0876C5}"/>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Times New Roman"/>
              </a:rPr>
              <a:t>Hallucinations can't be eliminated. But they can be caught and corrected before they reach the user</a:t>
            </a:r>
            <a:endParaRPr lang="en-US">
              <a:latin typeface="Times New Roman"/>
              <a:cs typeface="Times New Roman"/>
            </a:endParaRPr>
          </a:p>
          <a:p>
            <a:r>
              <a:rPr lang="en-US">
                <a:latin typeface="Times New Roman"/>
                <a:ea typeface="+mn-lt"/>
                <a:cs typeface="Times New Roman"/>
              </a:rPr>
              <a:t>No retraining, no architecture rework, fully model-agnostic</a:t>
            </a:r>
            <a:endParaRPr lang="en-US">
              <a:latin typeface="Times New Roman"/>
              <a:cs typeface="Times New Roman"/>
            </a:endParaRPr>
          </a:p>
          <a:p>
            <a:r>
              <a:rPr lang="en-US" err="1">
                <a:latin typeface="Times New Roman"/>
                <a:ea typeface="+mn-lt"/>
                <a:cs typeface="Times New Roman"/>
              </a:rPr>
              <a:t>RealityCheck</a:t>
            </a:r>
            <a:r>
              <a:rPr lang="en-US">
                <a:latin typeface="Times New Roman"/>
                <a:ea typeface="+mn-lt"/>
                <a:cs typeface="Times New Roman"/>
              </a:rPr>
              <a:t> = a practical, deployable trust layer for LLMs </a:t>
            </a:r>
            <a:endParaRPr lang="en-US">
              <a:latin typeface="Times New Roman"/>
              <a:cs typeface="Times New Roman"/>
            </a:endParaRPr>
          </a:p>
        </p:txBody>
      </p:sp>
    </p:spTree>
    <p:extLst>
      <p:ext uri="{BB962C8B-B14F-4D97-AF65-F5344CB8AC3E}">
        <p14:creationId xmlns:p14="http://schemas.microsoft.com/office/powerpoint/2010/main" val="4184449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3.png"/></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0AC246D-580B-4F38-B1DA-D9AEF75B2502}">
  <we:reference id="wa200002492" version="1.0.0.3" store="en-US" storeType="omex"/>
  <we:alternateReferences>
    <we:reference id="wa200002492" version="1.0.0.3" store="omex"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C9501F10-BE29-490E-9C63-4CBC7F673283}">
  <we:reference id="wa200010526" version="1.1.0.0" store="en-US" storeType="omex"/>
  <we:alternateReferences>
    <we:reference id="wa200010526" version="1.1.0.0" store="omex" storeType="omex"/>
  </we:alternateReferences>
  <we:properties>
    <we:property name="webViewerUrl" value="&quot;https://visheshverse.com/&quot;"/>
    <we:property name="webViewerZoomLevel" value="0.5"/>
    <we:property name="webViewerToolbarCollapsed" value="true"/>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RealityCheck : An Evidence-Grounded Hallucination Correction Pipeline for LLMs</vt:lpstr>
      <vt:lpstr>Myself Vishesh</vt:lpstr>
      <vt:lpstr>The Problem</vt:lpstr>
      <vt:lpstr>The Effect of Hallucinations</vt:lpstr>
      <vt:lpstr>What Already Exists and Why are they insufficient?</vt:lpstr>
      <vt:lpstr>Introducing RealityCheck</vt:lpstr>
      <vt:lpstr>Dataset: TruthfulQA</vt:lpstr>
      <vt:lpstr>The Process Step 1 : Claim Extraction</vt:lpstr>
      <vt:lpstr>The Process Step 2 : Evidence Retrieval</vt:lpstr>
      <vt:lpstr>The Process Step 3 : The Verification Engine</vt:lpstr>
      <vt:lpstr>The Process Step 4 : Decision Logic</vt:lpstr>
      <vt:lpstr>The Process Step 5 : Answer Synthesis</vt:lpstr>
      <vt:lpstr>The Experimental Setup</vt:lpstr>
      <vt:lpstr>The Results</vt:lpstr>
      <vt:lpstr>The Necessity of Each Step</vt:lpstr>
      <vt:lpstr>The Identified Limitations and the Future Scope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698</cp:revision>
  <dcterms:created xsi:type="dcterms:W3CDTF">2026-07-23T18:07:30Z</dcterms:created>
  <dcterms:modified xsi:type="dcterms:W3CDTF">2026-07-23T21:17:38Z</dcterms:modified>
</cp:coreProperties>
</file>