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ibre Baskerville" charset="1" panose="020000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073603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Reality Check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318102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Detecting and Correcting Hallucinations in Large Language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090665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Submitted by: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Vishesh Goyal (225805242)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863228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Under guidance of: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Dr. Jayita Saha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635801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School of Computer Engineering -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028234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Challenge: LLM Hallucinations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518422"/>
            <a:ext cx="437689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Are Hallucinations?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5611568"/>
            <a:ext cx="437689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Large Language Models generate convincing but factually incorrect information based on statistical patterns rather than explicit fact verification.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8397" y="4518422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Impact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8397" y="5168656"/>
            <a:ext cx="4376890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Incorrect information in healthcare, finance, cybersecurity, and research leads to misinformation and reduced trust in AI systems.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28222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Overview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405035"/>
            <a:ext cx="5254971" cy="3703587"/>
            <a:chOff x="0" y="0"/>
            <a:chExt cx="7006628" cy="4938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702844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93665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817859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5354688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Analyze LLM responses and identify individual factual statements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3405035"/>
            <a:ext cx="5254971" cy="3703587"/>
            <a:chOff x="0" y="0"/>
            <a:chExt cx="7006628" cy="49381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3702844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393665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535" r="0" b="-853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4817859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Fact Verification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5354688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Compare claims against trusted knowledge sources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3405035"/>
            <a:ext cx="5254971" cy="3703587"/>
            <a:chOff x="0" y="0"/>
            <a:chExt cx="7006628" cy="49381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702844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393665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91464" r="0" b="-91461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817859"/>
            <a:ext cx="379512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Response Correction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5354688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Replace hallucinated claims with verified information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238" y="7327554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RealityCheck creates a verification layer for LLM outputs, improving factual reliability through automated detection and correction.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700365"/>
            <a:ext cx="839763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This Matters Now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31188" y="3021063"/>
            <a:ext cx="4619034" cy="3108874"/>
            <a:chOff x="0" y="0"/>
            <a:chExt cx="6158713" cy="41451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00" y="25400"/>
              <a:ext cx="6107811" cy="4094353"/>
            </a:xfrm>
            <a:custGeom>
              <a:avLst/>
              <a:gdLst/>
              <a:ahLst/>
              <a:cxnLst/>
              <a:rect r="r" b="b" t="t" l="l"/>
              <a:pathLst>
                <a:path h="4094353" w="6107811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426" y="0"/>
                  </a:lnTo>
                  <a:cubicBezTo>
                    <a:pt x="6036437" y="0"/>
                    <a:pt x="6107811" y="71120"/>
                    <a:pt x="6107811" y="158750"/>
                  </a:cubicBezTo>
                  <a:lnTo>
                    <a:pt x="6107811" y="3935603"/>
                  </a:lnTo>
                  <a:cubicBezTo>
                    <a:pt x="6107811" y="4023233"/>
                    <a:pt x="6036437" y="4094353"/>
                    <a:pt x="5948426" y="4094353"/>
                  </a:cubicBezTo>
                  <a:lnTo>
                    <a:pt x="159385" y="4094353"/>
                  </a:lnTo>
                  <a:cubicBezTo>
                    <a:pt x="71374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58611" cy="4145153"/>
            </a:xfrm>
            <a:custGeom>
              <a:avLst/>
              <a:gdLst/>
              <a:ahLst/>
              <a:cxnLst/>
              <a:rect r="r" b="b" t="t" l="l"/>
              <a:pathLst>
                <a:path h="4145153" w="6158611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5973826" y="0"/>
                  </a:lnTo>
                  <a:lnTo>
                    <a:pt x="5973826" y="25400"/>
                  </a:lnTo>
                  <a:lnTo>
                    <a:pt x="5973826" y="0"/>
                  </a:lnTo>
                  <a:cubicBezTo>
                    <a:pt x="6075807" y="0"/>
                    <a:pt x="6158611" y="82423"/>
                    <a:pt x="6158611" y="184150"/>
                  </a:cubicBezTo>
                  <a:lnTo>
                    <a:pt x="6133211" y="184150"/>
                  </a:lnTo>
                  <a:lnTo>
                    <a:pt x="6158611" y="184150"/>
                  </a:lnTo>
                  <a:lnTo>
                    <a:pt x="6158611" y="3961003"/>
                  </a:lnTo>
                  <a:lnTo>
                    <a:pt x="6133211" y="3961003"/>
                  </a:lnTo>
                  <a:lnTo>
                    <a:pt x="6158611" y="3961003"/>
                  </a:lnTo>
                  <a:cubicBezTo>
                    <a:pt x="6158611" y="4062857"/>
                    <a:pt x="6075807" y="4145153"/>
                    <a:pt x="5973826" y="4145153"/>
                  </a:cubicBezTo>
                  <a:lnTo>
                    <a:pt x="5973826" y="4119753"/>
                  </a:lnTo>
                  <a:lnTo>
                    <a:pt x="5973826" y="4145153"/>
                  </a:lnTo>
                  <a:lnTo>
                    <a:pt x="184785" y="4145153"/>
                  </a:lnTo>
                  <a:lnTo>
                    <a:pt x="184785" y="4119753"/>
                  </a:lnTo>
                  <a:lnTo>
                    <a:pt x="184785" y="4145153"/>
                  </a:lnTo>
                  <a:cubicBezTo>
                    <a:pt x="82804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744" y="4094353"/>
                    <a:pt x="184785" y="4094353"/>
                  </a:cubicBezTo>
                  <a:lnTo>
                    <a:pt x="5973826" y="4094353"/>
                  </a:lnTo>
                  <a:cubicBezTo>
                    <a:pt x="6047994" y="4094353"/>
                    <a:pt x="6107811" y="4034536"/>
                    <a:pt x="6107811" y="3961003"/>
                  </a:cubicBezTo>
                  <a:lnTo>
                    <a:pt x="6107811" y="184150"/>
                  </a:lnTo>
                  <a:cubicBezTo>
                    <a:pt x="6107811" y="110617"/>
                    <a:pt x="6047867" y="50800"/>
                    <a:pt x="5973826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71859" y="3342684"/>
            <a:ext cx="387548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Rapid LLM Adoption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1859" y="3879504"/>
            <a:ext cx="3937692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LLMs integrated into healthcare, education, finance, and customer service systems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95634" y="3021063"/>
            <a:ext cx="4619177" cy="3108874"/>
            <a:chOff x="0" y="0"/>
            <a:chExt cx="6158903" cy="4145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108065" cy="4094353"/>
            </a:xfrm>
            <a:custGeom>
              <a:avLst/>
              <a:gdLst/>
              <a:ahLst/>
              <a:cxnLst/>
              <a:rect r="r" b="b" t="t" l="l"/>
              <a:pathLst>
                <a:path h="4094353" w="6108065">
                  <a:moveTo>
                    <a:pt x="0" y="158750"/>
                  </a:moveTo>
                  <a:cubicBezTo>
                    <a:pt x="0" y="71120"/>
                    <a:pt x="71374" y="0"/>
                    <a:pt x="159385" y="0"/>
                  </a:cubicBezTo>
                  <a:lnTo>
                    <a:pt x="5948680" y="0"/>
                  </a:lnTo>
                  <a:cubicBezTo>
                    <a:pt x="6036691" y="0"/>
                    <a:pt x="6108065" y="71120"/>
                    <a:pt x="6108065" y="158750"/>
                  </a:cubicBezTo>
                  <a:lnTo>
                    <a:pt x="6108065" y="3935603"/>
                  </a:lnTo>
                  <a:cubicBezTo>
                    <a:pt x="6108065" y="4023233"/>
                    <a:pt x="6036691" y="4094353"/>
                    <a:pt x="5948680" y="4094353"/>
                  </a:cubicBezTo>
                  <a:lnTo>
                    <a:pt x="159385" y="4094353"/>
                  </a:lnTo>
                  <a:cubicBezTo>
                    <a:pt x="71374" y="4094353"/>
                    <a:pt x="0" y="4023233"/>
                    <a:pt x="0" y="3935603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58865" cy="4145153"/>
            </a:xfrm>
            <a:custGeom>
              <a:avLst/>
              <a:gdLst/>
              <a:ahLst/>
              <a:cxnLst/>
              <a:rect r="r" b="b" t="t" l="l"/>
              <a:pathLst>
                <a:path h="4145153" w="6158865">
                  <a:moveTo>
                    <a:pt x="0" y="184150"/>
                  </a:moveTo>
                  <a:cubicBezTo>
                    <a:pt x="0" y="82423"/>
                    <a:pt x="82804" y="0"/>
                    <a:pt x="184785" y="0"/>
                  </a:cubicBezTo>
                  <a:lnTo>
                    <a:pt x="5974080" y="0"/>
                  </a:lnTo>
                  <a:lnTo>
                    <a:pt x="5974080" y="25400"/>
                  </a:lnTo>
                  <a:lnTo>
                    <a:pt x="5974080" y="0"/>
                  </a:lnTo>
                  <a:cubicBezTo>
                    <a:pt x="6076061" y="0"/>
                    <a:pt x="6158865" y="82423"/>
                    <a:pt x="6158865" y="184150"/>
                  </a:cubicBezTo>
                  <a:lnTo>
                    <a:pt x="6133465" y="184150"/>
                  </a:lnTo>
                  <a:lnTo>
                    <a:pt x="6158865" y="184150"/>
                  </a:lnTo>
                  <a:lnTo>
                    <a:pt x="6158865" y="3961003"/>
                  </a:lnTo>
                  <a:lnTo>
                    <a:pt x="6133465" y="3961003"/>
                  </a:lnTo>
                  <a:lnTo>
                    <a:pt x="6158865" y="3961003"/>
                  </a:lnTo>
                  <a:cubicBezTo>
                    <a:pt x="6158865" y="4062857"/>
                    <a:pt x="6076061" y="4145153"/>
                    <a:pt x="5974080" y="4145153"/>
                  </a:cubicBezTo>
                  <a:lnTo>
                    <a:pt x="5974080" y="4119753"/>
                  </a:lnTo>
                  <a:lnTo>
                    <a:pt x="5974080" y="4145153"/>
                  </a:lnTo>
                  <a:lnTo>
                    <a:pt x="184785" y="4145153"/>
                  </a:lnTo>
                  <a:lnTo>
                    <a:pt x="184785" y="4119753"/>
                  </a:lnTo>
                  <a:lnTo>
                    <a:pt x="184785" y="4145153"/>
                  </a:lnTo>
                  <a:cubicBezTo>
                    <a:pt x="82804" y="4145153"/>
                    <a:pt x="0" y="4062857"/>
                    <a:pt x="0" y="3961003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961003"/>
                  </a:lnTo>
                  <a:lnTo>
                    <a:pt x="25400" y="3961003"/>
                  </a:lnTo>
                  <a:lnTo>
                    <a:pt x="50800" y="3961003"/>
                  </a:lnTo>
                  <a:cubicBezTo>
                    <a:pt x="50800" y="4034536"/>
                    <a:pt x="110744" y="4094353"/>
                    <a:pt x="184785" y="4094353"/>
                  </a:cubicBezTo>
                  <a:lnTo>
                    <a:pt x="5974080" y="4094353"/>
                  </a:lnTo>
                  <a:cubicBezTo>
                    <a:pt x="6048248" y="4094353"/>
                    <a:pt x="6108065" y="4034536"/>
                    <a:pt x="6108065" y="3961003"/>
                  </a:cubicBezTo>
                  <a:lnTo>
                    <a:pt x="6108065" y="184150"/>
                  </a:lnTo>
                  <a:cubicBezTo>
                    <a:pt x="6108065" y="110617"/>
                    <a:pt x="6048121" y="50800"/>
                    <a:pt x="5974080" y="50800"/>
                  </a:cubicBezTo>
                  <a:lnTo>
                    <a:pt x="184785" y="50800"/>
                  </a:lnTo>
                  <a:lnTo>
                    <a:pt x="184785" y="25400"/>
                  </a:lnTo>
                  <a:lnTo>
                    <a:pt x="184785" y="50800"/>
                  </a:lnTo>
                  <a:cubicBezTo>
                    <a:pt x="110744" y="50800"/>
                    <a:pt x="50800" y="110617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36306" y="3342684"/>
            <a:ext cx="363855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Current Limitations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6306" y="3879504"/>
            <a:ext cx="3937845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Existing techniques like RAG don't guarantee factual correctness or identify embedded errors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31188" y="6375349"/>
            <a:ext cx="9483623" cy="2201618"/>
            <a:chOff x="0" y="0"/>
            <a:chExt cx="12644831" cy="29354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12594082" cy="2884678"/>
            </a:xfrm>
            <a:custGeom>
              <a:avLst/>
              <a:gdLst/>
              <a:ahLst/>
              <a:cxnLst/>
              <a:rect r="r" b="b" t="t" l="l"/>
              <a:pathLst>
                <a:path h="2884678" w="12594082">
                  <a:moveTo>
                    <a:pt x="0" y="158750"/>
                  </a:moveTo>
                  <a:cubicBezTo>
                    <a:pt x="0" y="71120"/>
                    <a:pt x="72009" y="0"/>
                    <a:pt x="160909" y="0"/>
                  </a:cubicBezTo>
                  <a:lnTo>
                    <a:pt x="12433173" y="0"/>
                  </a:lnTo>
                  <a:cubicBezTo>
                    <a:pt x="12522073" y="0"/>
                    <a:pt x="12594082" y="71120"/>
                    <a:pt x="12594082" y="158750"/>
                  </a:cubicBezTo>
                  <a:lnTo>
                    <a:pt x="12594082" y="2725928"/>
                  </a:lnTo>
                  <a:cubicBezTo>
                    <a:pt x="12594082" y="2813558"/>
                    <a:pt x="12522073" y="2884678"/>
                    <a:pt x="12433173" y="2884678"/>
                  </a:cubicBezTo>
                  <a:lnTo>
                    <a:pt x="160909" y="2884678"/>
                  </a:lnTo>
                  <a:cubicBezTo>
                    <a:pt x="72009" y="2884678"/>
                    <a:pt x="0" y="2813558"/>
                    <a:pt x="0" y="2725928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44882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882">
                  <a:moveTo>
                    <a:pt x="0" y="184150"/>
                  </a:moveTo>
                  <a:cubicBezTo>
                    <a:pt x="0" y="82169"/>
                    <a:pt x="83693" y="0"/>
                    <a:pt x="186309" y="0"/>
                  </a:cubicBezTo>
                  <a:lnTo>
                    <a:pt x="12458573" y="0"/>
                  </a:lnTo>
                  <a:lnTo>
                    <a:pt x="12458573" y="25400"/>
                  </a:lnTo>
                  <a:lnTo>
                    <a:pt x="12458573" y="0"/>
                  </a:lnTo>
                  <a:cubicBezTo>
                    <a:pt x="12561189" y="0"/>
                    <a:pt x="12644882" y="82169"/>
                    <a:pt x="12644882" y="184150"/>
                  </a:cubicBezTo>
                  <a:lnTo>
                    <a:pt x="12619482" y="184150"/>
                  </a:lnTo>
                  <a:lnTo>
                    <a:pt x="12644882" y="184150"/>
                  </a:lnTo>
                  <a:lnTo>
                    <a:pt x="12644882" y="2751328"/>
                  </a:lnTo>
                  <a:lnTo>
                    <a:pt x="12619482" y="2751328"/>
                  </a:lnTo>
                  <a:lnTo>
                    <a:pt x="12644882" y="2751328"/>
                  </a:lnTo>
                  <a:cubicBezTo>
                    <a:pt x="12644882" y="2853309"/>
                    <a:pt x="12561189" y="2935478"/>
                    <a:pt x="12458573" y="2935478"/>
                  </a:cubicBezTo>
                  <a:lnTo>
                    <a:pt x="12458573" y="2910078"/>
                  </a:lnTo>
                  <a:lnTo>
                    <a:pt x="12458573" y="2935478"/>
                  </a:lnTo>
                  <a:lnTo>
                    <a:pt x="186309" y="2935478"/>
                  </a:lnTo>
                  <a:lnTo>
                    <a:pt x="186309" y="2910078"/>
                  </a:lnTo>
                  <a:lnTo>
                    <a:pt x="186309" y="2935478"/>
                  </a:lnTo>
                  <a:cubicBezTo>
                    <a:pt x="83693" y="2935478"/>
                    <a:pt x="0" y="2853309"/>
                    <a:pt x="0" y="2751328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751328"/>
                  </a:lnTo>
                  <a:lnTo>
                    <a:pt x="25400" y="2751328"/>
                  </a:lnTo>
                  <a:lnTo>
                    <a:pt x="50800" y="2751328"/>
                  </a:lnTo>
                  <a:cubicBezTo>
                    <a:pt x="50800" y="2824607"/>
                    <a:pt x="111125" y="2884678"/>
                    <a:pt x="186309" y="2884678"/>
                  </a:cubicBezTo>
                  <a:lnTo>
                    <a:pt x="12458573" y="2884678"/>
                  </a:lnTo>
                  <a:cubicBezTo>
                    <a:pt x="12533757" y="2884678"/>
                    <a:pt x="12594082" y="2824607"/>
                    <a:pt x="12594082" y="2751328"/>
                  </a:cubicBezTo>
                  <a:lnTo>
                    <a:pt x="12594082" y="184150"/>
                  </a:lnTo>
                  <a:cubicBezTo>
                    <a:pt x="12594082" y="110871"/>
                    <a:pt x="12533757" y="50800"/>
                    <a:pt x="12458573" y="50800"/>
                  </a:cubicBezTo>
                  <a:lnTo>
                    <a:pt x="186309" y="50800"/>
                  </a:lnTo>
                  <a:lnTo>
                    <a:pt x="186309" y="25400"/>
                  </a:lnTo>
                  <a:lnTo>
                    <a:pt x="186309" y="50800"/>
                  </a:lnTo>
                  <a:cubicBezTo>
                    <a:pt x="111125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171859" y="669697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Trust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71859" y="7233790"/>
            <a:ext cx="8802291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Users need reliable AI systems for critical decision-making processes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124227"/>
            <a:ext cx="790797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Technical Foundation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728447"/>
            <a:ext cx="437689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Computer Science Domain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821584"/>
            <a:ext cx="4376890" cy="3213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(NLP)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Machine Learning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Information Retrieval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Knowledge Graphs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AI Safety and Reliability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70397" y="372844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Technologies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70397" y="4378671"/>
            <a:ext cx="4376890" cy="2759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Python programming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PyTorch &amp; TensorFlow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Hugging Face Transformers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SpaCy &amp; NLTK libraries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Pandas &amp; NumPy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32630" y="637137"/>
            <a:ext cx="5708304" cy="70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2630" y="1688754"/>
            <a:ext cx="1102966" cy="1323680"/>
            <a:chOff x="0" y="0"/>
            <a:chExt cx="1470622" cy="17649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" t="0" r="-7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807198" y="1899790"/>
            <a:ext cx="275764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07198" y="2318890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Query processed by LLM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32630" y="3012434"/>
            <a:ext cx="1102966" cy="1323680"/>
            <a:chOff x="0" y="0"/>
            <a:chExt cx="1470622" cy="176490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6" t="0" r="-7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807198" y="3223470"/>
            <a:ext cx="3016006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Response Generation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07198" y="3642570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LLM creates initial response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32630" y="4336104"/>
            <a:ext cx="1102966" cy="1323680"/>
            <a:chOff x="0" y="0"/>
            <a:chExt cx="1470622" cy="176490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6" t="0" r="-73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807198" y="4547149"/>
            <a:ext cx="275764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Claim Extraction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07198" y="4966249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Break into factual statements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32630" y="5659784"/>
            <a:ext cx="1102966" cy="1323680"/>
            <a:chOff x="0" y="0"/>
            <a:chExt cx="1470622" cy="176490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6" t="0" r="-73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807198" y="5870819"/>
            <a:ext cx="275764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Fact Verification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07198" y="6289919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Check against trusted sources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32630" y="6983463"/>
            <a:ext cx="1102966" cy="1323680"/>
            <a:chOff x="0" y="0"/>
            <a:chExt cx="1470622" cy="176490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6" t="0" r="-73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807198" y="7194499"/>
            <a:ext cx="275764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07198" y="7613599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Replace errors with facts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32630" y="8307143"/>
            <a:ext cx="1102966" cy="1323680"/>
            <a:chOff x="0" y="0"/>
            <a:chExt cx="1470622" cy="176490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1470660" cy="1764919"/>
            </a:xfrm>
            <a:custGeom>
              <a:avLst/>
              <a:gdLst/>
              <a:ahLst/>
              <a:cxnLst/>
              <a:rect r="r" b="b" t="t" l="l"/>
              <a:pathLst>
                <a:path h="1764919" w="1470660">
                  <a:moveTo>
                    <a:pt x="0" y="0"/>
                  </a:moveTo>
                  <a:lnTo>
                    <a:pt x="1470660" y="0"/>
                  </a:lnTo>
                  <a:lnTo>
                    <a:pt x="1470660" y="1764919"/>
                  </a:lnTo>
                  <a:lnTo>
                    <a:pt x="0" y="1764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76" t="0" r="-73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2807198" y="8518179"/>
            <a:ext cx="2757640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Verified Output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07198" y="8937279"/>
            <a:ext cx="13948019" cy="35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Accurate response delivered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57527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53378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82911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981745"/>
            <a:ext cx="455101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Design Detection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18574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Analyze LLM responses and identify factual claims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253378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3782911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3981745"/>
            <a:ext cx="522967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Develop Verification Module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518574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Compare claims against reliable knowledge sources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253378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3782911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3981745"/>
            <a:ext cx="524544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Implement Correction Mechanism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961487"/>
            <a:ext cx="524544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Replace hallucinations with validated information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374311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903834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7102678"/>
            <a:ext cx="400660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Evaluate Performance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639498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Test using benchmark datasets and metrics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374311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903834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7102678"/>
            <a:ext cx="499973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Demonstrate Improvement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639498"/>
            <a:ext cx="8009934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Show enhanced factual reliability vs. baseline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4729" y="721519"/>
            <a:ext cx="9409357" cy="88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 &amp;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729" y="2715816"/>
            <a:ext cx="3446259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Preparation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729" y="3347142"/>
            <a:ext cx="5299767" cy="154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TruthfulQA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FEVER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HaluEval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4729" y="5134870"/>
            <a:ext cx="3673678" cy="445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Performance Metrics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4729" y="5766197"/>
            <a:ext cx="5299767" cy="206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Precision &amp; Recall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Correction accuracy</a:t>
            </a:r>
          </a:p>
          <a:p>
            <a:pPr algn="l" marL="320477" indent="-160238" lvl="1">
              <a:lnSpc>
                <a:spcPts val="3312"/>
              </a:lnSpc>
              <a:buFont typeface="Arial"/>
              <a:buChar char="•"/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BLEU/ROUGE scores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929590" y="2291505"/>
            <a:ext cx="10413054" cy="5811888"/>
            <a:chOff x="0" y="0"/>
            <a:chExt cx="13884072" cy="77491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3884021" cy="7749159"/>
            </a:xfrm>
            <a:custGeom>
              <a:avLst/>
              <a:gdLst/>
              <a:ahLst/>
              <a:cxnLst/>
              <a:rect r="r" b="b" t="t" l="l"/>
              <a:pathLst>
                <a:path h="7749159" w="13884021">
                  <a:moveTo>
                    <a:pt x="0" y="0"/>
                  </a:moveTo>
                  <a:lnTo>
                    <a:pt x="13884021" y="0"/>
                  </a:lnTo>
                  <a:lnTo>
                    <a:pt x="13884021" y="7749159"/>
                  </a:lnTo>
                  <a:lnTo>
                    <a:pt x="0" y="7749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54729" y="8617744"/>
            <a:ext cx="16378533" cy="93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Baseline LLM generates responses, RealityCheck extracts and verifies claims, then corrects hallucinations while maintaining response coherence.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9397" y="771973"/>
            <a:ext cx="63530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Timeline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9712" y="2040579"/>
            <a:ext cx="28575" cy="7455246"/>
            <a:chOff x="0" y="0"/>
            <a:chExt cx="38100" cy="9940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9940290"/>
            </a:xfrm>
            <a:custGeom>
              <a:avLst/>
              <a:gdLst/>
              <a:ahLst/>
              <a:cxnLst/>
              <a:rect r="r" b="b" t="t" l="l"/>
              <a:pathLst>
                <a:path h="994029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921240"/>
                  </a:lnTo>
                  <a:cubicBezTo>
                    <a:pt x="38100" y="9931781"/>
                    <a:pt x="29591" y="9940290"/>
                    <a:pt x="19050" y="9940290"/>
                  </a:cubicBezTo>
                  <a:cubicBezTo>
                    <a:pt x="8509" y="9940290"/>
                    <a:pt x="0" y="9931781"/>
                    <a:pt x="0" y="992124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24454" y="2312041"/>
            <a:ext cx="762295" cy="28575"/>
            <a:chOff x="0" y="0"/>
            <a:chExt cx="1016394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381" cy="38100"/>
            </a:xfrm>
            <a:custGeom>
              <a:avLst/>
              <a:gdLst/>
              <a:ahLst/>
              <a:cxnLst/>
              <a:rect r="r" b="b" t="t" l="l"/>
              <a:pathLst>
                <a:path h="38100" w="10163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7331" y="0"/>
                  </a:lnTo>
                  <a:cubicBezTo>
                    <a:pt x="1007872" y="0"/>
                    <a:pt x="1016381" y="8509"/>
                    <a:pt x="1016381" y="19050"/>
                  </a:cubicBezTo>
                  <a:cubicBezTo>
                    <a:pt x="1016381" y="29591"/>
                    <a:pt x="1007872" y="38100"/>
                    <a:pt x="9973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3411" y="2035816"/>
            <a:ext cx="581177" cy="581177"/>
            <a:chOff x="0" y="0"/>
            <a:chExt cx="774903" cy="7749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62254" cy="762254"/>
            </a:xfrm>
            <a:custGeom>
              <a:avLst/>
              <a:gdLst/>
              <a:ahLst/>
              <a:cxnLst/>
              <a:rect r="r" b="b" t="t" l="l"/>
              <a:pathLst>
                <a:path h="762254" w="762254">
                  <a:moveTo>
                    <a:pt x="0" y="142367"/>
                  </a:moveTo>
                  <a:cubicBezTo>
                    <a:pt x="0" y="63754"/>
                    <a:pt x="63754" y="0"/>
                    <a:pt x="142367" y="0"/>
                  </a:cubicBezTo>
                  <a:lnTo>
                    <a:pt x="619887" y="0"/>
                  </a:lnTo>
                  <a:cubicBezTo>
                    <a:pt x="698500" y="0"/>
                    <a:pt x="762254" y="63754"/>
                    <a:pt x="762254" y="142367"/>
                  </a:cubicBezTo>
                  <a:lnTo>
                    <a:pt x="762254" y="619887"/>
                  </a:lnTo>
                  <a:cubicBezTo>
                    <a:pt x="762254" y="698500"/>
                    <a:pt x="698500" y="762254"/>
                    <a:pt x="619887" y="762254"/>
                  </a:cubicBezTo>
                  <a:lnTo>
                    <a:pt x="142367" y="762254"/>
                  </a:lnTo>
                  <a:cubicBezTo>
                    <a:pt x="63754" y="762254"/>
                    <a:pt x="0" y="698500"/>
                    <a:pt x="0" y="619887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4954" cy="774954"/>
            </a:xfrm>
            <a:custGeom>
              <a:avLst/>
              <a:gdLst/>
              <a:ahLst/>
              <a:cxnLst/>
              <a:rect r="r" b="b" t="t" l="l"/>
              <a:pathLst>
                <a:path h="774954" w="7749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26237" y="0"/>
                  </a:lnTo>
                  <a:lnTo>
                    <a:pt x="626237" y="6350"/>
                  </a:lnTo>
                  <a:lnTo>
                    <a:pt x="626237" y="0"/>
                  </a:lnTo>
                  <a:cubicBezTo>
                    <a:pt x="708279" y="0"/>
                    <a:pt x="774954" y="66548"/>
                    <a:pt x="774954" y="148717"/>
                  </a:cubicBezTo>
                  <a:lnTo>
                    <a:pt x="774954" y="626237"/>
                  </a:lnTo>
                  <a:lnTo>
                    <a:pt x="768604" y="626237"/>
                  </a:lnTo>
                  <a:lnTo>
                    <a:pt x="774954" y="626237"/>
                  </a:lnTo>
                  <a:cubicBezTo>
                    <a:pt x="774954" y="708279"/>
                    <a:pt x="708406" y="774954"/>
                    <a:pt x="626237" y="774954"/>
                  </a:cubicBezTo>
                  <a:lnTo>
                    <a:pt x="626237" y="768604"/>
                  </a:lnTo>
                  <a:lnTo>
                    <a:pt x="626237" y="774954"/>
                  </a:lnTo>
                  <a:lnTo>
                    <a:pt x="148717" y="774954"/>
                  </a:lnTo>
                  <a:lnTo>
                    <a:pt x="148717" y="768604"/>
                  </a:lnTo>
                  <a:lnTo>
                    <a:pt x="148717" y="774954"/>
                  </a:lnTo>
                  <a:cubicBezTo>
                    <a:pt x="66548" y="774954"/>
                    <a:pt x="0" y="708279"/>
                    <a:pt x="0" y="626237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626237"/>
                  </a:lnTo>
                  <a:lnTo>
                    <a:pt x="6350" y="626237"/>
                  </a:lnTo>
                  <a:lnTo>
                    <a:pt x="12700" y="626237"/>
                  </a:lnTo>
                  <a:cubicBezTo>
                    <a:pt x="12700" y="701294"/>
                    <a:pt x="73533" y="762254"/>
                    <a:pt x="148717" y="762254"/>
                  </a:cubicBezTo>
                  <a:lnTo>
                    <a:pt x="626237" y="762254"/>
                  </a:lnTo>
                  <a:cubicBezTo>
                    <a:pt x="701294" y="762254"/>
                    <a:pt x="762254" y="701421"/>
                    <a:pt x="762254" y="626237"/>
                  </a:cubicBezTo>
                  <a:lnTo>
                    <a:pt x="762254" y="148717"/>
                  </a:lnTo>
                  <a:lnTo>
                    <a:pt x="768604" y="148717"/>
                  </a:lnTo>
                  <a:lnTo>
                    <a:pt x="762254" y="148717"/>
                  </a:lnTo>
                  <a:cubicBezTo>
                    <a:pt x="762254" y="73533"/>
                    <a:pt x="701294" y="12700"/>
                    <a:pt x="626237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533"/>
                    <a:pt x="12700" y="14871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953348" y="2145287"/>
            <a:ext cx="381152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7016" y="2108749"/>
            <a:ext cx="3176435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1-2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9397" y="2594667"/>
            <a:ext cx="6984054" cy="4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Literature review &amp; dataset preparation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01251" y="3783806"/>
            <a:ext cx="762295" cy="28575"/>
            <a:chOff x="0" y="0"/>
            <a:chExt cx="1016394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381" cy="38100"/>
            </a:xfrm>
            <a:custGeom>
              <a:avLst/>
              <a:gdLst/>
              <a:ahLst/>
              <a:cxnLst/>
              <a:rect r="r" b="b" t="t" l="l"/>
              <a:pathLst>
                <a:path h="38100" w="10163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7331" y="0"/>
                  </a:lnTo>
                  <a:cubicBezTo>
                    <a:pt x="1007872" y="0"/>
                    <a:pt x="1016381" y="8509"/>
                    <a:pt x="1016381" y="19050"/>
                  </a:cubicBezTo>
                  <a:cubicBezTo>
                    <a:pt x="1016381" y="29591"/>
                    <a:pt x="1007872" y="38100"/>
                    <a:pt x="9973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53411" y="3507581"/>
            <a:ext cx="581177" cy="581177"/>
            <a:chOff x="0" y="0"/>
            <a:chExt cx="774903" cy="7749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62254" cy="762254"/>
            </a:xfrm>
            <a:custGeom>
              <a:avLst/>
              <a:gdLst/>
              <a:ahLst/>
              <a:cxnLst/>
              <a:rect r="r" b="b" t="t" l="l"/>
              <a:pathLst>
                <a:path h="762254" w="762254">
                  <a:moveTo>
                    <a:pt x="0" y="142367"/>
                  </a:moveTo>
                  <a:cubicBezTo>
                    <a:pt x="0" y="63754"/>
                    <a:pt x="63754" y="0"/>
                    <a:pt x="142367" y="0"/>
                  </a:cubicBezTo>
                  <a:lnTo>
                    <a:pt x="619887" y="0"/>
                  </a:lnTo>
                  <a:cubicBezTo>
                    <a:pt x="698500" y="0"/>
                    <a:pt x="762254" y="63754"/>
                    <a:pt x="762254" y="142367"/>
                  </a:cubicBezTo>
                  <a:lnTo>
                    <a:pt x="762254" y="619887"/>
                  </a:lnTo>
                  <a:cubicBezTo>
                    <a:pt x="762254" y="698500"/>
                    <a:pt x="698500" y="762254"/>
                    <a:pt x="619887" y="762254"/>
                  </a:cubicBezTo>
                  <a:lnTo>
                    <a:pt x="142367" y="762254"/>
                  </a:lnTo>
                  <a:cubicBezTo>
                    <a:pt x="63754" y="762254"/>
                    <a:pt x="0" y="698500"/>
                    <a:pt x="0" y="619887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4954" cy="774954"/>
            </a:xfrm>
            <a:custGeom>
              <a:avLst/>
              <a:gdLst/>
              <a:ahLst/>
              <a:cxnLst/>
              <a:rect r="r" b="b" t="t" l="l"/>
              <a:pathLst>
                <a:path h="774954" w="7749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26237" y="0"/>
                  </a:lnTo>
                  <a:lnTo>
                    <a:pt x="626237" y="6350"/>
                  </a:lnTo>
                  <a:lnTo>
                    <a:pt x="626237" y="0"/>
                  </a:lnTo>
                  <a:cubicBezTo>
                    <a:pt x="708279" y="0"/>
                    <a:pt x="774954" y="66548"/>
                    <a:pt x="774954" y="148717"/>
                  </a:cubicBezTo>
                  <a:lnTo>
                    <a:pt x="774954" y="626237"/>
                  </a:lnTo>
                  <a:lnTo>
                    <a:pt x="768604" y="626237"/>
                  </a:lnTo>
                  <a:lnTo>
                    <a:pt x="774954" y="626237"/>
                  </a:lnTo>
                  <a:cubicBezTo>
                    <a:pt x="774954" y="708279"/>
                    <a:pt x="708406" y="774954"/>
                    <a:pt x="626237" y="774954"/>
                  </a:cubicBezTo>
                  <a:lnTo>
                    <a:pt x="626237" y="768604"/>
                  </a:lnTo>
                  <a:lnTo>
                    <a:pt x="626237" y="774954"/>
                  </a:lnTo>
                  <a:lnTo>
                    <a:pt x="148717" y="774954"/>
                  </a:lnTo>
                  <a:lnTo>
                    <a:pt x="148717" y="768604"/>
                  </a:lnTo>
                  <a:lnTo>
                    <a:pt x="148717" y="774954"/>
                  </a:lnTo>
                  <a:cubicBezTo>
                    <a:pt x="66548" y="774954"/>
                    <a:pt x="0" y="708279"/>
                    <a:pt x="0" y="626237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626237"/>
                  </a:lnTo>
                  <a:lnTo>
                    <a:pt x="6350" y="626237"/>
                  </a:lnTo>
                  <a:lnTo>
                    <a:pt x="12700" y="626237"/>
                  </a:lnTo>
                  <a:cubicBezTo>
                    <a:pt x="12700" y="701294"/>
                    <a:pt x="73533" y="762254"/>
                    <a:pt x="148717" y="762254"/>
                  </a:cubicBezTo>
                  <a:lnTo>
                    <a:pt x="626237" y="762254"/>
                  </a:lnTo>
                  <a:cubicBezTo>
                    <a:pt x="701294" y="762254"/>
                    <a:pt x="762254" y="701421"/>
                    <a:pt x="762254" y="626237"/>
                  </a:cubicBezTo>
                  <a:lnTo>
                    <a:pt x="762254" y="148717"/>
                  </a:lnTo>
                  <a:lnTo>
                    <a:pt x="768604" y="148717"/>
                  </a:lnTo>
                  <a:lnTo>
                    <a:pt x="762254" y="148717"/>
                  </a:lnTo>
                  <a:cubicBezTo>
                    <a:pt x="762254" y="73533"/>
                    <a:pt x="701294" y="12700"/>
                    <a:pt x="626237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533"/>
                    <a:pt x="12700" y="14871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8953348" y="3617043"/>
            <a:ext cx="381152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14549" y="3580505"/>
            <a:ext cx="3176435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4549" y="4066432"/>
            <a:ext cx="6984054" cy="4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Detection module development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124454" y="5071472"/>
            <a:ext cx="762295" cy="28575"/>
            <a:chOff x="0" y="0"/>
            <a:chExt cx="1016394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6381" cy="38100"/>
            </a:xfrm>
            <a:custGeom>
              <a:avLst/>
              <a:gdLst/>
              <a:ahLst/>
              <a:cxnLst/>
              <a:rect r="r" b="b" t="t" l="l"/>
              <a:pathLst>
                <a:path h="38100" w="10163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7331" y="0"/>
                  </a:lnTo>
                  <a:cubicBezTo>
                    <a:pt x="1007872" y="0"/>
                    <a:pt x="1016381" y="8509"/>
                    <a:pt x="1016381" y="19050"/>
                  </a:cubicBezTo>
                  <a:cubicBezTo>
                    <a:pt x="1016381" y="29591"/>
                    <a:pt x="1007872" y="38100"/>
                    <a:pt x="9973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53411" y="4795247"/>
            <a:ext cx="581177" cy="581177"/>
            <a:chOff x="0" y="0"/>
            <a:chExt cx="774903" cy="7749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762254" cy="762254"/>
            </a:xfrm>
            <a:custGeom>
              <a:avLst/>
              <a:gdLst/>
              <a:ahLst/>
              <a:cxnLst/>
              <a:rect r="r" b="b" t="t" l="l"/>
              <a:pathLst>
                <a:path h="762254" w="762254">
                  <a:moveTo>
                    <a:pt x="0" y="142367"/>
                  </a:moveTo>
                  <a:cubicBezTo>
                    <a:pt x="0" y="63754"/>
                    <a:pt x="63754" y="0"/>
                    <a:pt x="142367" y="0"/>
                  </a:cubicBezTo>
                  <a:lnTo>
                    <a:pt x="619887" y="0"/>
                  </a:lnTo>
                  <a:cubicBezTo>
                    <a:pt x="698500" y="0"/>
                    <a:pt x="762254" y="63754"/>
                    <a:pt x="762254" y="142367"/>
                  </a:cubicBezTo>
                  <a:lnTo>
                    <a:pt x="762254" y="619887"/>
                  </a:lnTo>
                  <a:cubicBezTo>
                    <a:pt x="762254" y="698500"/>
                    <a:pt x="698500" y="762254"/>
                    <a:pt x="619887" y="762254"/>
                  </a:cubicBezTo>
                  <a:lnTo>
                    <a:pt x="142367" y="762254"/>
                  </a:lnTo>
                  <a:cubicBezTo>
                    <a:pt x="63754" y="762254"/>
                    <a:pt x="0" y="698500"/>
                    <a:pt x="0" y="619887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4954" cy="774954"/>
            </a:xfrm>
            <a:custGeom>
              <a:avLst/>
              <a:gdLst/>
              <a:ahLst/>
              <a:cxnLst/>
              <a:rect r="r" b="b" t="t" l="l"/>
              <a:pathLst>
                <a:path h="774954" w="7749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26237" y="0"/>
                  </a:lnTo>
                  <a:lnTo>
                    <a:pt x="626237" y="6350"/>
                  </a:lnTo>
                  <a:lnTo>
                    <a:pt x="626237" y="0"/>
                  </a:lnTo>
                  <a:cubicBezTo>
                    <a:pt x="708279" y="0"/>
                    <a:pt x="774954" y="66548"/>
                    <a:pt x="774954" y="148717"/>
                  </a:cubicBezTo>
                  <a:lnTo>
                    <a:pt x="774954" y="626237"/>
                  </a:lnTo>
                  <a:lnTo>
                    <a:pt x="768604" y="626237"/>
                  </a:lnTo>
                  <a:lnTo>
                    <a:pt x="774954" y="626237"/>
                  </a:lnTo>
                  <a:cubicBezTo>
                    <a:pt x="774954" y="708279"/>
                    <a:pt x="708406" y="774954"/>
                    <a:pt x="626237" y="774954"/>
                  </a:cubicBezTo>
                  <a:lnTo>
                    <a:pt x="626237" y="768604"/>
                  </a:lnTo>
                  <a:lnTo>
                    <a:pt x="626237" y="774954"/>
                  </a:lnTo>
                  <a:lnTo>
                    <a:pt x="148717" y="774954"/>
                  </a:lnTo>
                  <a:lnTo>
                    <a:pt x="148717" y="768604"/>
                  </a:lnTo>
                  <a:lnTo>
                    <a:pt x="148717" y="774954"/>
                  </a:lnTo>
                  <a:cubicBezTo>
                    <a:pt x="66548" y="774954"/>
                    <a:pt x="0" y="708279"/>
                    <a:pt x="0" y="626237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626237"/>
                  </a:lnTo>
                  <a:lnTo>
                    <a:pt x="6350" y="626237"/>
                  </a:lnTo>
                  <a:lnTo>
                    <a:pt x="12700" y="626237"/>
                  </a:lnTo>
                  <a:cubicBezTo>
                    <a:pt x="12700" y="701294"/>
                    <a:pt x="73533" y="762254"/>
                    <a:pt x="148717" y="762254"/>
                  </a:cubicBezTo>
                  <a:lnTo>
                    <a:pt x="626237" y="762254"/>
                  </a:lnTo>
                  <a:cubicBezTo>
                    <a:pt x="701294" y="762254"/>
                    <a:pt x="762254" y="701421"/>
                    <a:pt x="762254" y="626237"/>
                  </a:cubicBezTo>
                  <a:lnTo>
                    <a:pt x="762254" y="148717"/>
                  </a:lnTo>
                  <a:lnTo>
                    <a:pt x="768604" y="148717"/>
                  </a:lnTo>
                  <a:lnTo>
                    <a:pt x="762254" y="148717"/>
                  </a:lnTo>
                  <a:cubicBezTo>
                    <a:pt x="762254" y="73533"/>
                    <a:pt x="701294" y="12700"/>
                    <a:pt x="626237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533"/>
                    <a:pt x="12700" y="14871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953348" y="4904708"/>
            <a:ext cx="381152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97016" y="4868170"/>
            <a:ext cx="3176435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9397" y="5354088"/>
            <a:ext cx="6984054" cy="4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Correction mechanism implementation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01251" y="6359281"/>
            <a:ext cx="762295" cy="28575"/>
            <a:chOff x="0" y="0"/>
            <a:chExt cx="1016394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6381" cy="38100"/>
            </a:xfrm>
            <a:custGeom>
              <a:avLst/>
              <a:gdLst/>
              <a:ahLst/>
              <a:cxnLst/>
              <a:rect r="r" b="b" t="t" l="l"/>
              <a:pathLst>
                <a:path h="38100" w="10163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7331" y="0"/>
                  </a:lnTo>
                  <a:cubicBezTo>
                    <a:pt x="1007872" y="0"/>
                    <a:pt x="1016381" y="8509"/>
                    <a:pt x="1016381" y="19050"/>
                  </a:cubicBezTo>
                  <a:cubicBezTo>
                    <a:pt x="1016381" y="29591"/>
                    <a:pt x="1007872" y="38100"/>
                    <a:pt x="9973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853411" y="6083056"/>
            <a:ext cx="581177" cy="581177"/>
            <a:chOff x="0" y="0"/>
            <a:chExt cx="774903" cy="7749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762254" cy="762254"/>
            </a:xfrm>
            <a:custGeom>
              <a:avLst/>
              <a:gdLst/>
              <a:ahLst/>
              <a:cxnLst/>
              <a:rect r="r" b="b" t="t" l="l"/>
              <a:pathLst>
                <a:path h="762254" w="762254">
                  <a:moveTo>
                    <a:pt x="0" y="142367"/>
                  </a:moveTo>
                  <a:cubicBezTo>
                    <a:pt x="0" y="63754"/>
                    <a:pt x="63754" y="0"/>
                    <a:pt x="142367" y="0"/>
                  </a:cubicBezTo>
                  <a:lnTo>
                    <a:pt x="619887" y="0"/>
                  </a:lnTo>
                  <a:cubicBezTo>
                    <a:pt x="698500" y="0"/>
                    <a:pt x="762254" y="63754"/>
                    <a:pt x="762254" y="142367"/>
                  </a:cubicBezTo>
                  <a:lnTo>
                    <a:pt x="762254" y="619887"/>
                  </a:lnTo>
                  <a:cubicBezTo>
                    <a:pt x="762254" y="698500"/>
                    <a:pt x="698500" y="762254"/>
                    <a:pt x="619887" y="762254"/>
                  </a:cubicBezTo>
                  <a:lnTo>
                    <a:pt x="142367" y="762254"/>
                  </a:lnTo>
                  <a:cubicBezTo>
                    <a:pt x="63754" y="762254"/>
                    <a:pt x="0" y="698500"/>
                    <a:pt x="0" y="619887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74954" cy="774954"/>
            </a:xfrm>
            <a:custGeom>
              <a:avLst/>
              <a:gdLst/>
              <a:ahLst/>
              <a:cxnLst/>
              <a:rect r="r" b="b" t="t" l="l"/>
              <a:pathLst>
                <a:path h="774954" w="7749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26237" y="0"/>
                  </a:lnTo>
                  <a:lnTo>
                    <a:pt x="626237" y="6350"/>
                  </a:lnTo>
                  <a:lnTo>
                    <a:pt x="626237" y="0"/>
                  </a:lnTo>
                  <a:cubicBezTo>
                    <a:pt x="708279" y="0"/>
                    <a:pt x="774954" y="66548"/>
                    <a:pt x="774954" y="148717"/>
                  </a:cubicBezTo>
                  <a:lnTo>
                    <a:pt x="774954" y="626237"/>
                  </a:lnTo>
                  <a:lnTo>
                    <a:pt x="768604" y="626237"/>
                  </a:lnTo>
                  <a:lnTo>
                    <a:pt x="774954" y="626237"/>
                  </a:lnTo>
                  <a:cubicBezTo>
                    <a:pt x="774954" y="708279"/>
                    <a:pt x="708406" y="774954"/>
                    <a:pt x="626237" y="774954"/>
                  </a:cubicBezTo>
                  <a:lnTo>
                    <a:pt x="626237" y="768604"/>
                  </a:lnTo>
                  <a:lnTo>
                    <a:pt x="626237" y="774954"/>
                  </a:lnTo>
                  <a:lnTo>
                    <a:pt x="148717" y="774954"/>
                  </a:lnTo>
                  <a:lnTo>
                    <a:pt x="148717" y="768604"/>
                  </a:lnTo>
                  <a:lnTo>
                    <a:pt x="148717" y="774954"/>
                  </a:lnTo>
                  <a:cubicBezTo>
                    <a:pt x="66548" y="774954"/>
                    <a:pt x="0" y="708279"/>
                    <a:pt x="0" y="626237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626237"/>
                  </a:lnTo>
                  <a:lnTo>
                    <a:pt x="6350" y="626237"/>
                  </a:lnTo>
                  <a:lnTo>
                    <a:pt x="12700" y="626237"/>
                  </a:lnTo>
                  <a:cubicBezTo>
                    <a:pt x="12700" y="701294"/>
                    <a:pt x="73533" y="762254"/>
                    <a:pt x="148717" y="762254"/>
                  </a:cubicBezTo>
                  <a:lnTo>
                    <a:pt x="626237" y="762254"/>
                  </a:lnTo>
                  <a:cubicBezTo>
                    <a:pt x="701294" y="762254"/>
                    <a:pt x="762254" y="701421"/>
                    <a:pt x="762254" y="626237"/>
                  </a:cubicBezTo>
                  <a:lnTo>
                    <a:pt x="762254" y="148717"/>
                  </a:lnTo>
                  <a:lnTo>
                    <a:pt x="768604" y="148717"/>
                  </a:lnTo>
                  <a:lnTo>
                    <a:pt x="762254" y="148717"/>
                  </a:lnTo>
                  <a:cubicBezTo>
                    <a:pt x="762254" y="73533"/>
                    <a:pt x="701294" y="12700"/>
                    <a:pt x="626237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533"/>
                    <a:pt x="12700" y="14871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953348" y="6192517"/>
            <a:ext cx="381152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414549" y="6155979"/>
            <a:ext cx="3176435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14549" y="6641897"/>
            <a:ext cx="6984054" cy="4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System integration &amp; evaluation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124454" y="7647089"/>
            <a:ext cx="762295" cy="28575"/>
            <a:chOff x="0" y="0"/>
            <a:chExt cx="1016394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6381" cy="38100"/>
            </a:xfrm>
            <a:custGeom>
              <a:avLst/>
              <a:gdLst/>
              <a:ahLst/>
              <a:cxnLst/>
              <a:rect r="r" b="b" t="t" l="l"/>
              <a:pathLst>
                <a:path h="38100" w="10163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97331" y="0"/>
                  </a:lnTo>
                  <a:cubicBezTo>
                    <a:pt x="1007872" y="0"/>
                    <a:pt x="1016381" y="8509"/>
                    <a:pt x="1016381" y="19050"/>
                  </a:cubicBezTo>
                  <a:cubicBezTo>
                    <a:pt x="1016381" y="29591"/>
                    <a:pt x="1007872" y="38100"/>
                    <a:pt x="9973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853411" y="7370864"/>
            <a:ext cx="581177" cy="581177"/>
            <a:chOff x="0" y="0"/>
            <a:chExt cx="774903" cy="77490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762254" cy="762254"/>
            </a:xfrm>
            <a:custGeom>
              <a:avLst/>
              <a:gdLst/>
              <a:ahLst/>
              <a:cxnLst/>
              <a:rect r="r" b="b" t="t" l="l"/>
              <a:pathLst>
                <a:path h="762254" w="762254">
                  <a:moveTo>
                    <a:pt x="0" y="142367"/>
                  </a:moveTo>
                  <a:cubicBezTo>
                    <a:pt x="0" y="63754"/>
                    <a:pt x="63754" y="0"/>
                    <a:pt x="142367" y="0"/>
                  </a:cubicBezTo>
                  <a:lnTo>
                    <a:pt x="619887" y="0"/>
                  </a:lnTo>
                  <a:cubicBezTo>
                    <a:pt x="698500" y="0"/>
                    <a:pt x="762254" y="63754"/>
                    <a:pt x="762254" y="142367"/>
                  </a:cubicBezTo>
                  <a:lnTo>
                    <a:pt x="762254" y="619887"/>
                  </a:lnTo>
                  <a:cubicBezTo>
                    <a:pt x="762254" y="698500"/>
                    <a:pt x="698500" y="762254"/>
                    <a:pt x="619887" y="762254"/>
                  </a:cubicBezTo>
                  <a:lnTo>
                    <a:pt x="142367" y="762254"/>
                  </a:lnTo>
                  <a:cubicBezTo>
                    <a:pt x="63754" y="762254"/>
                    <a:pt x="0" y="698500"/>
                    <a:pt x="0" y="619887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4954" cy="774954"/>
            </a:xfrm>
            <a:custGeom>
              <a:avLst/>
              <a:gdLst/>
              <a:ahLst/>
              <a:cxnLst/>
              <a:rect r="r" b="b" t="t" l="l"/>
              <a:pathLst>
                <a:path h="774954" w="774954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626237" y="0"/>
                  </a:lnTo>
                  <a:lnTo>
                    <a:pt x="626237" y="6350"/>
                  </a:lnTo>
                  <a:lnTo>
                    <a:pt x="626237" y="0"/>
                  </a:lnTo>
                  <a:cubicBezTo>
                    <a:pt x="708279" y="0"/>
                    <a:pt x="774954" y="66548"/>
                    <a:pt x="774954" y="148717"/>
                  </a:cubicBezTo>
                  <a:lnTo>
                    <a:pt x="774954" y="626237"/>
                  </a:lnTo>
                  <a:lnTo>
                    <a:pt x="768604" y="626237"/>
                  </a:lnTo>
                  <a:lnTo>
                    <a:pt x="774954" y="626237"/>
                  </a:lnTo>
                  <a:cubicBezTo>
                    <a:pt x="774954" y="708279"/>
                    <a:pt x="708406" y="774954"/>
                    <a:pt x="626237" y="774954"/>
                  </a:cubicBezTo>
                  <a:lnTo>
                    <a:pt x="626237" y="768604"/>
                  </a:lnTo>
                  <a:lnTo>
                    <a:pt x="626237" y="774954"/>
                  </a:lnTo>
                  <a:lnTo>
                    <a:pt x="148717" y="774954"/>
                  </a:lnTo>
                  <a:lnTo>
                    <a:pt x="148717" y="768604"/>
                  </a:lnTo>
                  <a:lnTo>
                    <a:pt x="148717" y="774954"/>
                  </a:lnTo>
                  <a:cubicBezTo>
                    <a:pt x="66548" y="774954"/>
                    <a:pt x="0" y="708279"/>
                    <a:pt x="0" y="626237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626237"/>
                  </a:lnTo>
                  <a:lnTo>
                    <a:pt x="6350" y="626237"/>
                  </a:lnTo>
                  <a:lnTo>
                    <a:pt x="12700" y="626237"/>
                  </a:lnTo>
                  <a:cubicBezTo>
                    <a:pt x="12700" y="701294"/>
                    <a:pt x="73533" y="762254"/>
                    <a:pt x="148717" y="762254"/>
                  </a:cubicBezTo>
                  <a:lnTo>
                    <a:pt x="626237" y="762254"/>
                  </a:lnTo>
                  <a:cubicBezTo>
                    <a:pt x="701294" y="762254"/>
                    <a:pt x="762254" y="701421"/>
                    <a:pt x="762254" y="626237"/>
                  </a:cubicBezTo>
                  <a:lnTo>
                    <a:pt x="762254" y="148717"/>
                  </a:lnTo>
                  <a:lnTo>
                    <a:pt x="768604" y="148717"/>
                  </a:lnTo>
                  <a:lnTo>
                    <a:pt x="762254" y="148717"/>
                  </a:lnTo>
                  <a:cubicBezTo>
                    <a:pt x="762254" y="73533"/>
                    <a:pt x="701294" y="12700"/>
                    <a:pt x="626237" y="12700"/>
                  </a:cubicBezTo>
                  <a:lnTo>
                    <a:pt x="148717" y="12700"/>
                  </a:lnTo>
                  <a:lnTo>
                    <a:pt x="148717" y="6350"/>
                  </a:lnTo>
                  <a:lnTo>
                    <a:pt x="148717" y="12700"/>
                  </a:lnTo>
                  <a:cubicBezTo>
                    <a:pt x="73533" y="12700"/>
                    <a:pt x="12700" y="73533"/>
                    <a:pt x="12700" y="148717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8953348" y="7480325"/>
            <a:ext cx="381152" cy="41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97016" y="7443788"/>
            <a:ext cx="3176435" cy="41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Phase 6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89397" y="7929715"/>
            <a:ext cx="6984054" cy="45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00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Documentation &amp; paper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542762" y="1685477"/>
            <a:ext cx="5551732" cy="63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Expected Deliverables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7542762" y="2527849"/>
            <a:ext cx="489052" cy="489052"/>
          </a:xfrm>
          <a:custGeom>
            <a:avLst/>
            <a:gdLst/>
            <a:ahLst/>
            <a:cxnLst/>
            <a:rect r="r" b="b" t="t" l="l"/>
            <a:pathLst>
              <a:path h="489052" w="489052">
                <a:moveTo>
                  <a:pt x="0" y="0"/>
                </a:moveTo>
                <a:lnTo>
                  <a:pt x="489051" y="0"/>
                </a:lnTo>
                <a:lnTo>
                  <a:pt x="489051" y="489052"/>
                </a:lnTo>
                <a:lnTo>
                  <a:pt x="0" y="489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42762" y="3185665"/>
            <a:ext cx="3173463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RealityCheck Framework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2762" y="3543595"/>
            <a:ext cx="10060486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Functional system detecting and correcting hallucinated information using verified knowledge sources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542762" y="4106618"/>
            <a:ext cx="489052" cy="489052"/>
          </a:xfrm>
          <a:custGeom>
            <a:avLst/>
            <a:gdLst/>
            <a:ahLst/>
            <a:cxnLst/>
            <a:rect r="r" b="b" t="t" l="l"/>
            <a:pathLst>
              <a:path h="489052" w="489052">
                <a:moveTo>
                  <a:pt x="0" y="0"/>
                </a:moveTo>
                <a:lnTo>
                  <a:pt x="489051" y="0"/>
                </a:lnTo>
                <a:lnTo>
                  <a:pt x="489051" y="489052"/>
                </a:lnTo>
                <a:lnTo>
                  <a:pt x="0" y="489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542762" y="4764434"/>
            <a:ext cx="2445696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Detection Module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2762" y="5122364"/>
            <a:ext cx="10060486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Extracts factual claims and identifies hallucinations through verification mechanisms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542762" y="5685387"/>
            <a:ext cx="489052" cy="489052"/>
          </a:xfrm>
          <a:custGeom>
            <a:avLst/>
            <a:gdLst/>
            <a:ahLst/>
            <a:cxnLst/>
            <a:rect r="r" b="b" t="t" l="l"/>
            <a:pathLst>
              <a:path h="489052" w="489052">
                <a:moveTo>
                  <a:pt x="0" y="0"/>
                </a:moveTo>
                <a:lnTo>
                  <a:pt x="489051" y="0"/>
                </a:lnTo>
                <a:lnTo>
                  <a:pt x="489051" y="489051"/>
                </a:lnTo>
                <a:lnTo>
                  <a:pt x="0" y="4890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922" r="0" b="-192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542762" y="6343202"/>
            <a:ext cx="2445696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Correction Module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2762" y="6701133"/>
            <a:ext cx="10060486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Replaces hallucinated claims with validated information while preserving coherence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7542762" y="7264156"/>
            <a:ext cx="489052" cy="489052"/>
          </a:xfrm>
          <a:custGeom>
            <a:avLst/>
            <a:gdLst/>
            <a:ahLst/>
            <a:cxnLst/>
            <a:rect r="r" b="b" t="t" l="l"/>
            <a:pathLst>
              <a:path h="489052" w="489052">
                <a:moveTo>
                  <a:pt x="0" y="0"/>
                </a:moveTo>
                <a:lnTo>
                  <a:pt x="489051" y="0"/>
                </a:lnTo>
                <a:lnTo>
                  <a:pt x="489051" y="489051"/>
                </a:lnTo>
                <a:lnTo>
                  <a:pt x="0" y="489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9615" r="0" b="-9613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542762" y="7921971"/>
            <a:ext cx="2445696" cy="30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Research Paper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2762" y="8279902"/>
            <a:ext cx="10060486" cy="293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Documentation of architecture, methodology, results, and analysis for publication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DAHELiJgvl8</dc:identifier>
  <dcterms:modified xsi:type="dcterms:W3CDTF">2011-08-01T06:04:30Z</dcterms:modified>
  <cp:revision>1</cp:revision>
  <dc:title>Reality-Check.pptx</dc:title>
</cp:coreProperties>
</file>